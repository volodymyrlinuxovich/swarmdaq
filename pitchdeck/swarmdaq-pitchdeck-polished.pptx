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b8dd5e008b4803" /><Relationship Type="http://schemas.openxmlformats.org/officeDocument/2006/relationships/extended-properties" Target="/docProps/app.xml" Id="R097506b5436e4faa" /><Relationship Type="http://schemas.openxmlformats.org/officeDocument/2006/relationships/officeDocument" Target="/ppt/presentation.xml" Id="R070ca6539802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f285cf0463496d"/>
  </p:sldMasterIdLst>
  <p:notesMasterIdLst>
    <p:notesMasterId xmlns:r="http://schemas.openxmlformats.org/officeDocument/2006/relationships" r:id="R70025eb249dc449a"/>
  </p:notesMasterIdLst>
  <p:sldIdLst>
    <p:sldId xmlns:r="http://schemas.openxmlformats.org/officeDocument/2006/relationships" id="256" r:id="R0a6bab3d23af4568"/>
    <p:sldId xmlns:r="http://schemas.openxmlformats.org/officeDocument/2006/relationships" id="257" r:id="R516d7c3fd04c4114"/>
    <p:sldId xmlns:r="http://schemas.openxmlformats.org/officeDocument/2006/relationships" id="258" r:id="Rad2c7bf326084855"/>
    <p:sldId xmlns:r="http://schemas.openxmlformats.org/officeDocument/2006/relationships" id="259" r:id="Rb9cf3885d703465f"/>
    <p:sldId xmlns:r="http://schemas.openxmlformats.org/officeDocument/2006/relationships" id="260" r:id="Rec8441fa83944588"/>
    <p:sldId xmlns:r="http://schemas.openxmlformats.org/officeDocument/2006/relationships" id="261" r:id="R2b56400082ff4907"/>
    <p:sldId xmlns:r="http://schemas.openxmlformats.org/officeDocument/2006/relationships" id="262" r:id="Rf82f3376145e4b46"/>
    <p:sldId xmlns:r="http://schemas.openxmlformats.org/officeDocument/2006/relationships" id="263" r:id="R4b9d2d81b39e4081"/>
    <p:sldId xmlns:r="http://schemas.openxmlformats.org/officeDocument/2006/relationships" id="264" r:id="R964462224f83471e"/>
    <p:sldId xmlns:r="http://schemas.openxmlformats.org/officeDocument/2006/relationships" id="265" r:id="R59f7cfdd6aa848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28cb5f8eaa4dfb" /><Relationship Type="http://schemas.openxmlformats.org/officeDocument/2006/relationships/slideMaster" Target="/ppt/slideMasters/slideMaster1.xml" Id="R99f285cf0463496d" /><Relationship Type="http://schemas.openxmlformats.org/officeDocument/2006/relationships/notesMaster" Target="/ppt/notesMasters/notesMaster1.xml" Id="R70025eb249dc449a" /><Relationship Type="http://schemas.openxmlformats.org/officeDocument/2006/relationships/presProps" Target="/ppt/presProps.xml" Id="R9bb74370507a4d06" /><Relationship Type="http://schemas.openxmlformats.org/officeDocument/2006/relationships/viewProps" Target="/ppt/viewProps.xml" Id="R6def070a7d2a48f3" /><Relationship Type="http://schemas.openxmlformats.org/officeDocument/2006/relationships/tableStyles" Target="/ppt/tableStyles.xml" Id="Rc549f3620c5247b3" /><Relationship Type="http://schemas.openxmlformats.org/officeDocument/2006/relationships/slide" Target="/ppt/slides/slide1.xml" Id="R0a6bab3d23af4568" /><Relationship Type="http://schemas.openxmlformats.org/officeDocument/2006/relationships/slide" Target="/ppt/slides/slide2.xml" Id="R516d7c3fd04c4114" /><Relationship Type="http://schemas.openxmlformats.org/officeDocument/2006/relationships/slide" Target="/ppt/slides/slide3.xml" Id="Rad2c7bf326084855" /><Relationship Type="http://schemas.openxmlformats.org/officeDocument/2006/relationships/slide" Target="/ppt/slides/slide4.xml" Id="Rb9cf3885d703465f" /><Relationship Type="http://schemas.openxmlformats.org/officeDocument/2006/relationships/slide" Target="/ppt/slides/slide5.xml" Id="Rec8441fa83944588" /><Relationship Type="http://schemas.openxmlformats.org/officeDocument/2006/relationships/slide" Target="/ppt/slides/slide6.xml" Id="R2b56400082ff4907" /><Relationship Type="http://schemas.openxmlformats.org/officeDocument/2006/relationships/slide" Target="/ppt/slides/slide7.xml" Id="Rf82f3376145e4b46" /><Relationship Type="http://schemas.openxmlformats.org/officeDocument/2006/relationships/slide" Target="/ppt/slides/slide8.xml" Id="R4b9d2d81b39e4081" /><Relationship Type="http://schemas.openxmlformats.org/officeDocument/2006/relationships/slide" Target="/ppt/slides/slide9.xml" Id="R964462224f83471e" /><Relationship Type="http://schemas.openxmlformats.org/officeDocument/2006/relationships/slide" Target="/ppt/slides/slide10.xml" Id="R59f7cfdd6aa8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5fdfd2bf34a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cf8b7d3f844292" /><Relationship Type="http://schemas.openxmlformats.org/officeDocument/2006/relationships/notesMaster" Target="/ppt/notesMasters/notesMaster1.xml" Id="Rc635e2507d5a40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8f73ba54d4fca" /><Relationship Type="http://schemas.openxmlformats.org/officeDocument/2006/relationships/notesMaster" Target="/ppt/notesMasters/notesMaster1.xml" Id="R34ea9d64002a4d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e8083d415a4e1d" /><Relationship Type="http://schemas.openxmlformats.org/officeDocument/2006/relationships/notesMaster" Target="/ppt/notesMasters/notesMaster1.xml" Id="R053de3c678ab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f754481dd45ef" /><Relationship Type="http://schemas.openxmlformats.org/officeDocument/2006/relationships/notesMaster" Target="/ppt/notesMasters/notesMaster1.xml" Id="R6eb424733dcf47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d04b18be514b34" /><Relationship Type="http://schemas.openxmlformats.org/officeDocument/2006/relationships/notesMaster" Target="/ppt/notesMasters/notesMaster1.xml" Id="R8b4fefd7d63d4a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139767946c435d" /><Relationship Type="http://schemas.openxmlformats.org/officeDocument/2006/relationships/notesMaster" Target="/ppt/notesMasters/notesMaster1.xml" Id="Rddd5bb4fed2543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65ea8b32d40e1" /><Relationship Type="http://schemas.openxmlformats.org/officeDocument/2006/relationships/notesMaster" Target="/ppt/notesMasters/notesMaster1.xml" Id="R522e479a783141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9acf3cc96c47ba" /><Relationship Type="http://schemas.openxmlformats.org/officeDocument/2006/relationships/notesMaster" Target="/ppt/notesMasters/notesMaster1.xml" Id="R96278328fead40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ddb91035414d04" /><Relationship Type="http://schemas.openxmlformats.org/officeDocument/2006/relationships/notesMaster" Target="/ppt/notesMasters/notesMaster1.xml" Id="R44eb5148d87d42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e3c0893dcd4d47" /><Relationship Type="http://schemas.openxmlformats.org/officeDocument/2006/relationships/notesMaster" Target="/ppt/notesMasters/notesMaster1.xml" Id="R6995163dab97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e3ac3e68249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97e834c044687" /><Relationship Type="http://schemas.openxmlformats.org/officeDocument/2006/relationships/slideLayout" Target="/ppt/slideLayouts/slideLayout1.xml" Id="R125ae68552fd48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ae68552fd48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940e361e14e34" /><Relationship Type="http://schemas.openxmlformats.org/officeDocument/2006/relationships/notesSlide" Target="/ppt/notesSlides/notesSlide1.xml" Id="R07dc4a437261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2f0e903e4f83" /><Relationship Type="http://schemas.openxmlformats.org/officeDocument/2006/relationships/notesSlide" Target="/ppt/notesSlides/notesSlide2.xml" Id="R2ccec07433b2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02a5685564ed6" /><Relationship Type="http://schemas.openxmlformats.org/officeDocument/2006/relationships/notesSlide" Target="/ppt/notesSlides/notesSlide3.xml" Id="Ra14d3fd46f8a44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978eb996e4e4e" /><Relationship Type="http://schemas.openxmlformats.org/officeDocument/2006/relationships/notesSlide" Target="/ppt/notesSlides/notesSlide4.xml" Id="R2b6ec8fed4fb4d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906d12d804540" /><Relationship Type="http://schemas.openxmlformats.org/officeDocument/2006/relationships/notesSlide" Target="/ppt/notesSlides/notesSlide5.xml" Id="Rd7798d9330b441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cc54244b541a3" /><Relationship Type="http://schemas.openxmlformats.org/officeDocument/2006/relationships/notesSlide" Target="/ppt/notesSlides/notesSlide6.xml" Id="Ra47b5619c9fa45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fee17fbdd46f5" /><Relationship Type="http://schemas.openxmlformats.org/officeDocument/2006/relationships/notesSlide" Target="/ppt/notesSlides/notesSlide7.xml" Id="Rdc1bff4b6ddc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c5618fa314b54" /><Relationship Type="http://schemas.openxmlformats.org/officeDocument/2006/relationships/notesSlide" Target="/ppt/notesSlides/notesSlide8.xml" Id="Rcbcc2c2ad39d42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59a500d484dce" /><Relationship Type="http://schemas.openxmlformats.org/officeDocument/2006/relationships/notesSlide" Target="/ppt/notesSlides/notesSlide9.xml" Id="R5767ba58eb21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68596276241f1" /><Relationship Type="http://schemas.openxmlformats.org/officeDocument/2006/relationships/notesSlide" Target="/ppt/notesSlides/notesSlide10.xml" Id="Rcea136c35f3c48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1C3ED-4AAF-4FFA-A6CC-329AFE2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05138-F866-41D5-94AF-A9A7C0D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47424-BBAB-492E-BC08-B5C67170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0B71B-F09D-4158-91FB-B76F1FE0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C3D90-246C-42BE-9C0A-1BF4C824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6B36F-F5C7-4A6B-8E27-A6ED457F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F6323-1790-4B61-AE59-E2C9A387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3585-92DA-44E3-AB77-CCF081E1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5BD67-4DC1-4ED8-BD8A-AE3DDFAA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A552A-CDFC-40BB-B63B-AF58ACA7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3A559-A78B-4484-941D-E907DA5F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38FB5-4683-4F32-AB03-1798D45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6B9C0-5482-4A49-9A67-F6C38EC7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9D411-12D7-484C-A3FF-5CAF304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EC90C-6FFF-4DFB-A499-682DA73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86907-2513-4A98-B55D-63084380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D763D-DF6C-4AEA-8CB1-AFCD38F9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B0B4A-1A7C-407E-9A6A-AC722829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SwarmDAQ repo, paper, and live demo.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E43C3-FE73-4207-801A-1FC2917D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22CC6-834D-4628-9E54-B63D7433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80975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FF88">
              <a:alpha val="7843"/>
            </a:srgbClr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3B202-1E90-4323-9F0D-14DDAE6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86EF8-4BEC-45C9-B651-4505B094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LIVE TECHNICAL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AD611-6913-49AA-92BB-09B08F18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5810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55B38-FE24-43DA-9EE4-4F7BA4D4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619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 market-based performance exchange for self-improving AI agent swarms.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FF2AF-FDCE-4625-ADB7-F87FE1FA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55721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Agents bid on tasks. A MarketMaker routes with math. Weave traces the run. Evaluation updates reputation memory. The next swarm is smarter.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852E1-FC74-4ED2-969D-DE3EC68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6191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183D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12124-7712-45CE-BBBB-7C96A127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3ED2B-0C4D-4333-A4C4-B2A8C04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specialized agents with persistent market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0050D-3AEB-42DD-A5BD-0A7F7964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150C2A-BCF9-416A-949B-4D90DC0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1965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7+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1B98D-EE10-429F-8C3D-B6A44BA5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5305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routing signals beyond prompt selection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E1EC79-C0D5-454C-9BC5-C6BFB4D9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245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6AC890-D761-4A3F-9A30-30C3AED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2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BE8491-4E28-43A3-843F-9153DA5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53050"/>
            <a:ext cx="1123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closed feedback loops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51AE4B-A21E-4B41-A02D-C77B037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2452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D3B18B-CEDE-4964-874F-D173D33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57250"/>
            <a:ext cx="4381500" cy="485775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05100D"/>
          </a:solidFill>
          <a:ln xmlns:a="http://schemas.openxmlformats.org/drawingml/2006/main" w="9525">
            <a:solidFill>
              <a:srgbClr val="1D423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7A12FB-EA2B-4191-AFDC-7314EA7C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620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Performance market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AFB3D1-BF33-4344-A4F5-55609A3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4780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A live exchange for work, evidence, and reputation.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95B433-1232-4168-9B50-2D23FE66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195262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B020">
              <a:alpha val="7059"/>
            </a:srgbClr>
          </a:solidFill>
          <a:ln xmlns:a="http://schemas.openxmlformats.org/drawingml/2006/main" w="9525">
            <a:solidFill>
              <a:srgbClr val="FFB020">
                <a:alpha val="44706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193551-1B46-4EBA-8F06-EB30428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16478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7CA6BE-51A8-4C89-B41D-E49EB5D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1647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quality, factuality, usefulness, actionability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40942-1114-4D22-83D3-28BFFF4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286000" cy="8953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0FF88">
              <a:alpha val="7059"/>
            </a:srgbClr>
          </a:solidFill>
          <a:ln xmlns:a="http://schemas.openxmlformats.org/drawingml/2006/main" w="9525">
            <a:solidFill>
              <a:srgbClr val="00FF88">
                <a:alpha val="4470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D34817-D244-46D7-B24B-CF960172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90875"/>
            <a:ext cx="198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MarketMaker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CAB3DE-6FCC-498E-8D5E-A593B57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1981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skill, trust, UCB, bid, Elo, graph, cost, latency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5A6ED2-7093-4CB8-B030-0C8C03E7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192405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A86CFF">
              <a:alpha val="7059"/>
            </a:srgbClr>
          </a:solidFill>
          <a:ln xmlns:a="http://schemas.openxmlformats.org/drawingml/2006/main" w="9525">
            <a:solidFill>
              <a:srgbClr val="A86CFF">
                <a:alpha val="44706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49864C-EFA5-4CDD-B067-2B8F32A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8627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Agents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C16D5B-2859-4909-A466-B767D668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8155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planner, research, verifier, builder, pitch, skeptic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6CFE82-8019-43DA-8638-69404CB9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62450"/>
            <a:ext cx="150495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A3FF">
              <a:alpha val="7059"/>
            </a:srgbClr>
          </a:solidFill>
          <a:ln xmlns:a="http://schemas.openxmlformats.org/drawingml/2006/main" w="9525">
            <a:solidFill>
              <a:srgbClr val="00A3FF">
                <a:alpha val="44706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B164C8-40DD-42FA-87BC-D76366DD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86275"/>
            <a:ext cx="1200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Memory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F82A81-B56B-4D85-8476-04EF11CC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81550"/>
            <a:ext cx="120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Beta, Elo, task history, graph trust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87AA55-E541-4431-B1C2-CD98018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670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29D10B-6485-4E5A-B4BC-F1A988E4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624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D228D1-4535-45C7-B1AD-EE8A7BDA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528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DF8B0F-F8A5-4FAC-9706-E9AFC945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35242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0FF88">
              <a:alpha val="5098"/>
            </a:srgbClr>
          </a:solidFill>
          <a:ln xmlns:a="http://schemas.openxmlformats.org/drawingml/2006/main" w="9525">
            <a:solidFill>
              <a:srgbClr val="00FF88">
                <a:alpha val="28235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D18AD0-E096-4E88-A90C-C8E9C024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Core loop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B82D2C-BC0B-4EC9-B5B7-7DDE584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4673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bid -&gt; route -&gt; trace -&gt; evaluate -&gt; remember</a:t>
            </a:r>
          </a:p>
        </p:txBody>
      </p:sp>
    </p:spTree>
    <p:extLst>
      <p:ext uri="{BB962C8B-B14F-4D97-AF65-F5344CB8AC3E}">
        <p14:creationId xmlns:p14="http://schemas.microsoft.com/office/powerpoint/2010/main" val="17202944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B02C9-C214-40E5-8DC6-AC5CF70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19F0A-EAE4-439A-94BE-73254051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2DD82-B15A-483E-8D25-F7537503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4E27-4B7A-4FDC-9B80-52B185D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60A72-C0BD-4717-8A74-E6F0A651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65B38-195D-41AC-ACEC-B1241F85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AC343-2E1E-43DC-BF0C-4185F9A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10B98-BBC8-4362-80BE-FA85EEAF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9B8BD-20DF-4134-A24D-B7757180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78601-988E-4FE4-A373-B3D1B12E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CCF5A-2688-454B-BD89-A5BAD58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F5A0D-EAEB-4F78-970D-94B34C53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79B32-20A6-48F7-8E18-0DB0A509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7EDA5-26B7-4044-AF2C-3B443FA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15A29-6EBA-4973-9371-E6AA5ADF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D0000-0096-4275-A222-BC903B95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33166-8C01-476B-8D94-988CA4B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54C21-BFE2-4A49-9A38-0A531BF4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7E2A8-9C88-49AE-B50A-62BB1E2E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Agent teams fail when trust is invisible.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99A5C-0D20-4ECB-84FC-07041DD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README problem framing and orchestrator failure mode.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35827-7953-498B-BEFF-6BB8CEEB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23518-643A-4C1F-8BD7-AEAAB16A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7953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Most orchestration still behaves like a prompt chain: assign work, hope the output is good, then lose the evidence after the run.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8A6A8-FA42-4A01-A7ED-E38FCCAD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0363200" cy="12573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948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34E5E-B2C3-4502-9C41-A79C7736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857375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6D857C">
              <a:alpha val="7059"/>
            </a:srgbClr>
          </a:solidFill>
          <a:ln xmlns:a="http://schemas.openxmlformats.org/drawingml/2006/main" w="9525">
            <a:solidFill>
              <a:srgbClr val="6D857C">
                <a:alpha val="4470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F9621-A95A-48C4-9B56-3977F4C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15525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1. Static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51925-EA8D-487B-BED7-5583D867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5525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manual or sequential assignment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ABB2B-6008-4267-BA42-35CF6C93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1857375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4D5E">
              <a:alpha val="7059"/>
            </a:srgbClr>
          </a:solidFill>
          <a:ln xmlns:a="http://schemas.openxmlformats.org/drawingml/2006/main" w="9525">
            <a:solidFill>
              <a:srgbClr val="FF4D5E">
                <a:alpha val="44706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64B10-D847-466B-95DF-DB29578A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48025"/>
            <a:ext cx="15525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2. Weak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55340-40EB-4CC1-817D-30898AB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15525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unsupported claim or bad fit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2C0C19-E0D6-4EAC-AA4A-8C9D5B0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24200"/>
            <a:ext cx="1857375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B020">
              <a:alpha val="7059"/>
            </a:srgbClr>
          </a:solidFill>
          <a:ln xmlns:a="http://schemas.openxmlformats.org/drawingml/2006/main" w="9525">
            <a:solidFill>
              <a:srgbClr val="FFB020">
                <a:alpha val="4470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2A437-25EA-4BEF-B90F-39139C88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48025"/>
            <a:ext cx="15525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3. No attribution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C2E26-CA6B-4A4F-97F4-2C22B416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525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which agent failed?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A9E13E-77E2-47FB-9C31-A903E34F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857375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6D857C">
              <a:alpha val="7059"/>
            </a:srgbClr>
          </a:solidFill>
          <a:ln xmlns:a="http://schemas.openxmlformats.org/drawingml/2006/main" w="9525">
            <a:solidFill>
              <a:srgbClr val="6D857C">
                <a:alpha val="44706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2FA60-368C-4BCD-BBC5-DE19B0FB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15525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4. No memory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E4BAF-A54F-4D99-86FD-EFD32D2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15525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same agent reused later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D356EF-06A5-46CC-8961-4FAA429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67100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EED0C5-025C-434E-A18C-ADA045E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467100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7BAA4-4F50-4E2E-BF79-E5A5231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467100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7D2EC9-A675-4723-9F8B-F23F15E8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6048375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0FF88">
              <a:alpha val="5882"/>
            </a:srgbClr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500E78-CFA1-4EC8-A81B-14B75536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The missing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E62EDD-FCA1-46C4-8746-57188C84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5143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 transparent exchange where agents earn or lose trust from actual performance.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8ACFB8-72B5-48AA-A239-6DA1C79A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52950"/>
            <a:ext cx="3714750" cy="14478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4D5E">
              <a:alpha val="5882"/>
            </a:srgbClr>
          </a:solidFill>
          <a:ln xmlns:a="http://schemas.openxmlformats.org/drawingml/2006/main" w="9525">
            <a:solidFill>
              <a:srgbClr val="FF4D5E">
                <a:alpha val="3333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E722BF-0D3E-4E33-962D-0C8634B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625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Failure case in demo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9C869E-9380-481C-AF9B-6FBCF105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4350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1 catches an unsupported market-size claim, penalizes ResearchAgent, promotes SourceVerifierAgent, and changes future routing.</a:t>
            </a:r>
          </a:p>
        </p:txBody>
      </p:sp>
    </p:spTree>
    <p:extLst>
      <p:ext uri="{BB962C8B-B14F-4D97-AF65-F5344CB8AC3E}">
        <p14:creationId xmlns:p14="http://schemas.microsoft.com/office/powerpoint/2010/main" val="17556935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33FCA5-1D27-4202-B78C-9B52FBCA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FF134-4356-4DEE-8FDC-44FE48E3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FD891-1E3B-4868-B002-503530D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2801D-7393-448D-971A-0C26DA07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B87AC-B21B-4F5E-9A94-44F2A298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9F502-283E-4B55-80C5-8D16D31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A7076-5E6F-4FBF-B6F1-C8352CB5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F8099-7FC3-46E9-955E-0FC27B9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F840A-D7F9-4BF3-9EB0-CB4E2DD7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38D1A-8C20-41B4-B251-D8259232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068C6-89AD-4176-9B14-35AABCCA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7677E-2B11-4403-9A32-A43F595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C6AE7-12A4-4A2B-90EF-D6CA84FB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C0B21-6908-4C9C-9A92-10D23FE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142F4-0DE4-47FD-9C68-482B788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FAE33-DEAE-468B-BEBD-EE60B6F6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E8D0E-AFCE-49DF-9A7A-2CC6CEE9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0097C-FCFA-405C-962D-460B642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5B0F7-EDCD-4A35-B451-B67DF1A6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The product is a market loop, not another agent.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A9B46-D99B-4A51-93C5-43FC03DE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src/lib/orchestrator.ts, src/lib/memory.ts, src/lib/trace.ts.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BB69A-FD11-470C-985B-B0EA53E3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91749-3745-41FC-8DB4-6578A92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Each mission becomes a repeated decision market: bid, select, execute, trace, evaluate, update.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D8F56-3675-4F79-85E3-F1213965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80010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5100D"/>
          </a:solidFill>
          <a:ln xmlns:a="http://schemas.openxmlformats.org/drawingml/2006/main" w="9525">
            <a:solidFill>
              <a:srgbClr val="193A3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BCE12-D57B-4EE2-A903-817B98C1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478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B020">
              <a:alpha val="7059"/>
            </a:srgbClr>
          </a:solidFill>
          <a:ln xmlns:a="http://schemas.openxmlformats.org/drawingml/2006/main" w="9525">
            <a:solidFill>
              <a:srgbClr val="FFB020">
                <a:alpha val="4470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273CD-9FF8-4F6D-83F2-BF78FDD9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1. Mission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18969-36A5-4467-80DC-B138252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user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1C5F8-A294-4C4F-B60B-929C6384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14478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A3FF">
              <a:alpha val="7059"/>
            </a:srgbClr>
          </a:solidFill>
          <a:ln xmlns:a="http://schemas.openxmlformats.org/drawingml/2006/main" w="9525">
            <a:solidFill>
              <a:srgbClr val="00A3FF">
                <a:alpha val="44706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982F0-B670-4A29-8278-0C1F1234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33675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2. Task graph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DD84E-6E55-4ABD-9A7B-C8F09021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289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PlannerAgent decomposes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BFD3E-6D62-4D09-A984-FB4D5A78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14478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FF88">
              <a:alpha val="7059"/>
            </a:srgbClr>
          </a:solidFill>
          <a:ln xmlns:a="http://schemas.openxmlformats.org/drawingml/2006/main" w="9525">
            <a:solidFill>
              <a:srgbClr val="00FF88">
                <a:alpha val="4470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73CF92-3646-4120-9386-E522467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33675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3. Agent bids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1BB1BB-DA0D-432D-895A-8A45712A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confidence, quality, cost, latency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846E4-BB90-4C89-8C7F-4A5A3FAA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171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FF88">
              <a:alpha val="7059"/>
            </a:srgbClr>
          </a:solidFill>
          <a:ln xmlns:a="http://schemas.openxmlformats.org/drawingml/2006/main" w="9525">
            <a:solidFill>
              <a:srgbClr val="00FF88">
                <a:alpha val="44706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B1629-A41B-4B83-9C4E-F983DE4D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95675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4. MarketMaker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136FE-23CE-47ED-9449-9AE75FA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9095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weighted selection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C116F-1A8C-467B-B74F-BE946AF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14478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A86CFF">
              <a:alpha val="7059"/>
            </a:srgbClr>
          </a:solidFill>
          <a:ln xmlns:a="http://schemas.openxmlformats.org/drawingml/2006/main" w="9525">
            <a:solidFill>
              <a:srgbClr val="A86CFF">
                <a:alpha val="44706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9E1D2C-9B79-4647-A015-D23BE5C3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43425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5. Execution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91E08A-C4C1-4656-B227-51718674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387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Gemini or fallback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F80A4D-55DA-4A4F-BDFF-64B49A4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14478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B020">
              <a:alpha val="7059"/>
            </a:srgbClr>
          </a:solidFill>
          <a:ln xmlns:a="http://schemas.openxmlformats.org/drawingml/2006/main" w="9525">
            <a:solidFill>
              <a:srgbClr val="FFB020">
                <a:alpha val="44706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C78936-4EF8-4A78-850A-FA402D5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43425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6. Evaluation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092227-BB3A-4E3D-B8C8-1994127F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387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six dimensions scored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AF7901-7148-453A-B43E-BF083A5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4478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A3FF">
              <a:alpha val="7059"/>
            </a:srgbClr>
          </a:solidFill>
          <a:ln xmlns:a="http://schemas.openxmlformats.org/drawingml/2006/main" w="9525">
            <a:solidFill>
              <a:srgbClr val="00A3FF">
                <a:alpha val="4470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84E93-0C0B-4957-B503-77652BBE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43425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7.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0D7D55-E955-4696-AE1B-C87A9BB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Beta, Elo, graph trust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495231-3448-4BC0-A241-E3F30EA7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861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67A3BC-B445-436C-B307-44A2699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7657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BFFB69-1B2B-4B8C-A8BC-AB04F39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337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451E6C-0A33-42F4-9072-45E1DF85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D7C67F-058D-45AC-BB42-B5380B75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4322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65CDB1-46B8-4ECD-8BD7-FB78171A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3860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AEC253-4F96-4A26-A170-5A559693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D21517-9178-4E10-BFA6-E644E9D5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434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BE70B3-9081-4494-B680-61DF0F6C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9F2876-8B32-4AB7-BBDC-9CE1DEE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386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622E87-A687-4EC8-B96E-22C79FF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33600"/>
            <a:ext cx="2381250" cy="3429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D38855-6C3C-417F-8A9F-FDAB4CB4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Market state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4DF268-44B3-49B3-93AD-7EDC0F19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733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Each run leaves durable evidence behind: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D2545C-0470-41D8-9C5B-3EA96839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99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reputation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BCF452-38D5-408D-8C18-D8BDB56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uncertainty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DE4386-41D9-49E1-830E-92C3EB3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76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pairwise rating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907CB7-CE7C-4842-A4A9-7182CB0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101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collaboration graph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DF805E-E2B5-4A4D-8AE7-F932361E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26606"/>
            <a:ext cx="17240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5B76E8-BFB3-4C17-A352-2184815B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0006"/>
            <a:ext cx="17240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1FF398-9AE5-49D8-A967-11352508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93406"/>
            <a:ext cx="17240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7D3048-87D8-4E4B-BE73-AE151F2B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26806"/>
            <a:ext cx="17240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74434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A3931-217B-4DCC-9E6C-039A8AC8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FAD3E-2E96-4F26-830C-E69C6B34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BEC11-AA2A-4CBC-8BB8-56B6A62E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AAB47-D01D-40BB-82E1-30F20A7E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306BC-4C34-4B2D-BF48-CD1C692A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365C9-0221-4CE2-8B64-011830C2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177A9-5A56-4F05-AD02-9BCC92B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D17E0-53CB-4341-9C37-30C57E6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0BD73-9A92-42E0-A263-BD41ED6C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59381-EFD2-42EE-BFDB-5C67BA2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9D50F-5AEC-4AA2-A867-AD9087A9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1150B-FA3C-4D80-9366-A7DF80AC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93C19-B615-46B2-B502-BB71E070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A228B-7D40-46BE-9AB0-0D7CC1C1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A20D8-FBFB-4D99-9FDE-2D03D43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C990D-20AD-4862-A693-9B703973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C0546-9913-4D7D-BECF-5ED1665B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50771-F09D-4B17-BA62-8F3FDE71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8481A-7087-46A2-813A-3EE15434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The implementation already spans UI, routing, tracing, and memory.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CA7D7-32B1-419C-94BD-27FD3A52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Next.js app routes, lib/orchestrator.ts, lib/gemini.ts, lib/memory.ts.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A5E20-21E5-47DC-9A46-E82DC748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0DD6D-7A73-4138-940F-F637BEC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0382250" cy="2990850"/>
          </a:xfrm>
          <a:prstGeom xmlns:a="http://schemas.openxmlformats.org/drawingml/2006/main" prst="roundRect">
            <a:avLst>
              <a:gd name="adj" fmla="val 1911"/>
            </a:avLst>
          </a:prstGeom>
          <a:solidFill xmlns:a="http://schemas.openxmlformats.org/drawingml/2006/main">
            <a:srgbClr val="05100D"/>
          </a:solidFill>
          <a:ln xmlns:a="http://schemas.openxmlformats.org/drawingml/2006/main" w="9525">
            <a:solidFill>
              <a:srgbClr val="1C35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09A7F9-5E80-42CA-B898-8C5EFA6F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Interface and routing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F83F6D-1FF3-4585-B742-C732783F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9526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A3FF">
              <a:alpha val="7059"/>
            </a:srgbClr>
          </a:solidFill>
          <a:ln xmlns:a="http://schemas.openxmlformats.org/drawingml/2006/main" w="9525">
            <a:solidFill>
              <a:srgbClr val="00A3FF">
                <a:alpha val="4470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BE7B0-81C5-4F56-BCEE-5B42D56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62275"/>
            <a:ext cx="16478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Next.js 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32D6C-101F-4D91-8063-2C7022C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16478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landing, architecture, live demo, benchmark suite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DA380-641D-44F6-BCFA-391EED6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1952625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FF88">
              <a:alpha val="7059"/>
            </a:srgbClr>
          </a:solidFill>
          <a:ln xmlns:a="http://schemas.openxmlformats.org/drawingml/2006/main" w="9525">
            <a:solidFill>
              <a:srgbClr val="00FF88">
                <a:alpha val="44706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C213B-B03A-4CFE-AEB5-702C6DF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62275"/>
            <a:ext cx="16478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API routes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42DAD-2B10-483C-8AD0-72D68A3F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57550"/>
            <a:ext cx="16478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/api/mission, /agents, /traces, /reset-demo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2BFFA-A9CA-4DAB-ABB6-EE2F8CE7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20955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B020">
              <a:alpha val="7059"/>
            </a:srgbClr>
          </a:solidFill>
          <a:ln xmlns:a="http://schemas.openxmlformats.org/drawingml/2006/main" w="9525">
            <a:solidFill>
              <a:srgbClr val="FFB020">
                <a:alpha val="44706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7D336D-06FA-4141-8D93-1D5C5CB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6227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Orchestrator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5A4E7-98D4-4244-B4C8-E414172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task planning, bidding, selection, execution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4A747-FE97-4A38-9836-38C692DE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38450"/>
            <a:ext cx="20955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A86CFF">
              <a:alpha val="7059"/>
            </a:srgbClr>
          </a:solidFill>
          <a:ln xmlns:a="http://schemas.openxmlformats.org/drawingml/2006/main" w="9525">
            <a:solidFill>
              <a:srgbClr val="A86CFF">
                <a:alpha val="44706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274E1D-1FEF-46C0-B308-4CE2B816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6227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Execution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D73B1-A1A1-435D-A7CC-47922B64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575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Gemini 2.5 Flash with deterministic 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FDC2C-DE26-43A3-A5FF-A9C3C96D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480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5108D2-C438-429D-A8B4-3FF8CD16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480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667E07-5212-49A6-8662-6A56AE13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480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7A465C-D772-4F56-BC55-DE9F57C8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Evidence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EFADE7-262F-4246-9B77-13717DF0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05300"/>
            <a:ext cx="2190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B020">
              <a:alpha val="7059"/>
            </a:srgbClr>
          </a:solidFill>
          <a:ln xmlns:a="http://schemas.openxmlformats.org/drawingml/2006/main" w="9525">
            <a:solidFill>
              <a:srgbClr val="FFB020">
                <a:alpha val="44706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13EA72-C0C3-4903-89FC-D2F891E1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291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C58166-F523-4D4E-A558-D52A1AD7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24400"/>
            <a:ext cx="1885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quality, factuality, usefulness, specificity, actionability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4A55BD-DB8C-42EE-B56F-5122D0B3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05300"/>
            <a:ext cx="2190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0A3FF">
              <a:alpha val="7059"/>
            </a:srgbClr>
          </a:solidFill>
          <a:ln xmlns:a="http://schemas.openxmlformats.org/drawingml/2006/main" w="9525">
            <a:solidFill>
              <a:srgbClr val="00A3FF">
                <a:alpha val="44706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121EC-30FE-4469-8C0A-5B71F8EA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291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Trace layer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61D98E-FD08-45B6-AEA2-83B79A9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24400"/>
            <a:ext cx="1885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Weave integration plus local trace events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2E998E-EFA2-49DA-8267-2AB2EDD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2190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0FF88">
              <a:alpha val="7059"/>
            </a:srgbClr>
          </a:solidFill>
          <a:ln xmlns:a="http://schemas.openxmlformats.org/drawingml/2006/main" w="9525">
            <a:solidFill>
              <a:srgbClr val="00FF88">
                <a:alpha val="44706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5857C3-BF53-4303-8F6E-07B3419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Memory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2620D6-5B77-4055-8E9D-4E4DB2F4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24400"/>
            <a:ext cx="1885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Upstash Redis or in-memory state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17D984-7BB2-4772-9437-836AC764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766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DB4EAE-F1C3-4E31-A1B4-3325CB75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71925"/>
            <a:ext cx="531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8F92BB-D567-4369-A0DE-36E226C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814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31AB1B-729A-4B81-B61E-DA2E18C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9814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12D9CE-6023-4735-B882-202B86F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814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76DCBF-7FDC-471D-B332-58D55CEA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88582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411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B209CF-D86A-4072-903A-F6DA728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24525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Key design choice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DEB0E7-1A2C-43A7-9BBE-7BCD549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15000"/>
            <a:ext cx="657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Every production dependency has a fallback path, so the demo remains usable without secrets.</a:t>
            </a:r>
          </a:p>
        </p:txBody>
      </p:sp>
    </p:spTree>
    <p:extLst>
      <p:ext uri="{BB962C8B-B14F-4D97-AF65-F5344CB8AC3E}">
        <p14:creationId xmlns:p14="http://schemas.microsoft.com/office/powerpoint/2010/main" val="16220878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183AF-D490-4865-AB98-CFA97F9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59058-A2AC-4E17-9EB9-D2CA179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03316-4741-429B-9449-81F3680E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FB271-0810-4C0F-86CC-E6F2CFF3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68649-AAD3-4B16-9BF5-9FA09D52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CB2E4-06CB-4BBA-AF92-7C08D6A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8E594-BBA1-4FDD-B9EB-B9ABF50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59B88-FB39-4182-8186-F99924FF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DADC4-549F-4A90-9D34-51AB5FCB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556A2-3D2B-4537-8D00-F84B70A7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42D6A-656F-404D-88ED-7B29B9CA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AFD7F-2FEB-4B2D-AD17-4550995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CCB5E-42C4-4E66-A6A4-CD3B517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63B14-F35F-4C46-A006-00A84AB9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4DF87-23D8-4E6F-971D-A8ECF3C4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4D189-9A81-4ECB-8C78-EB1491A4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BB601-B301-4342-898B-9772CE46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D63CE-68F1-4BE4-85B9-6F7D22FC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ROUTING MATH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FEB25-916F-49E2-922E-4D7A46A5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MarketMaker routes with a score, not vibes.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C4F12-1485-4745-BC76-4ACDAD2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src/lib/orchestrator.ts computeMarketMakerScore().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5534E-1B55-4EA6-AE9A-C8A892F5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F644C-93B9-4298-B909-1313A57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4292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693BF-D157-4F8C-AF2A-158D6A21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Score(i)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75163-53D6-49F9-B0BA-145DACD8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positive market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91DB3-DD25-400B-AE46-39D896F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Skill + Reputation + UCB + Bid + Elo + GraphTrust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768B2-69AF-4D22-9018-8BE8B279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0481"/>
            <a:ext cx="4267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BBAA9-BA6B-41F3-9B44-843195F2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explicit penalties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4CA32-21BE-4C3C-A6F0-F39A8039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Cost + Latency + Uncertainty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FEC6E-2AA2-42B6-AACD-1719AB71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The UI exposes candidate scores, component weights, and the selected winner for each task.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70D7BD-0879-47AF-9039-F8051B11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28625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8100E"/>
          </a:solidFill>
          <a:ln xmlns:a="http://schemas.openxmlformats.org/drawingml/2006/main" w="9525">
            <a:solidFill>
              <a:srgbClr val="243E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1C9BB-5F0B-46DD-BFA5-31A462BE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2571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Implemented signal 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2ABAB-8BCF-4D01-8798-73499927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2892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0.20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93C752-4D0F-4D5D-86F3-B945115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Skill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D48D52-8E95-420F-A34D-470FBC2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4322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task fit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6BBB7C-4681-4E7F-8889-C2FF8F7A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384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3FFBC3-40EA-47D9-BD2F-2C421A7D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289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0.18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7727F3-F1B0-4331-9D4A-4C34A931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623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Reputation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DB3954-AA27-4E28-B205-E4A703A7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mean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C52EED-F105-4F03-9048-99CE64A1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79206D-BB4E-44B6-91D6-8753A56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2902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6CFF"/>
                </a:solidFill>
                <a:latin typeface="Helvetica"/>
                <a:ea typeface="Helvetica"/>
                <a:cs typeface="Helvetica"/>
              </a:defRPr>
            </a:pPr>
            <a:r>
              <a:t>0.16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117780-570D-49C9-B4A5-6B4F34A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623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UCB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C76E90-6286-4E05-A8F5-9B5F07C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4332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explore/exploit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CD2F59-50BF-4750-8D53-C66DDF58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6DE7F1-07EC-4A26-A22E-2EF095E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290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0.14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DB03CB-36EF-48B0-979D-302767B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624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Bid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A1A828-EDF6-4679-987C-FF66039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4337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utility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12151E-6EC1-4A51-A2E1-ED0CD32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386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B36F23-5ACF-4AA6-98F9-B4EDE93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0.12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EF7FF5-88CA-4D8D-A24B-4A6B92D5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Elo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150C32-24B1-46B7-8B52-E743EC00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4342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pairwise strength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7573DC-0D8B-4693-B470-3E05EC8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386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F0AAB1-43D2-4415-9C75-A390D26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291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0.08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1C7AF4-A2C8-46C8-AA12-1B2876D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GraphTrust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389E78-F8EE-4F35-90B7-11307A9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4347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collaboration hub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D62272-C947-4447-AE00-19AB11C8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387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894B06-C944-4BF4-817E-D52A683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2922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-0.20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1ADF79-7D81-471E-92E8-580E06B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625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Cost / latency / risk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C8D023-E500-4A52-BCD9-1E2CBA24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43525"/>
            <a:ext cx="161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penalty terms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3A1C45-CA05-4A93-9520-A8A339E5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3875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70DDA1-7A8D-4D33-898C-61AB92A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62588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CDB0A7-5B0F-44A2-A770-2B2C1C59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38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Negative weights are explicit penalties, not hidden prompt preferences.</a:t>
            </a:r>
          </a:p>
        </p:txBody>
      </p:sp>
    </p:spTree>
    <p:extLst>
      <p:ext uri="{BB962C8B-B14F-4D97-AF65-F5344CB8AC3E}">
        <p14:creationId xmlns:p14="http://schemas.microsoft.com/office/powerpoint/2010/main" val="9315866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BF8A5-3878-403A-B908-E5D087B5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CE6F1-E943-445C-92AB-1AEF0E0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B2A72-C30A-4132-A556-1AD84EB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B56F1-C52C-4242-9CBA-91FAD51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B8408-90B9-4121-B0FF-B69F566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990CC-561B-499C-BFED-7B655D4E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CD36-41D8-435F-A30A-853A3705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5B445-57EF-445B-B96E-43140F68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B757D-E3CC-4A92-ABC3-63825B5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22A15-18B0-4931-B3BF-77EC2863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5D138-BDC6-49AF-B904-16272058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65456-0B9A-4F41-AA33-674CE7B8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29CD-4F32-4660-A15F-C157EFA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C2437-0170-4D06-A5E7-EC38DA24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F3279-6DF0-4388-B417-51FD423E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34509-5F50-4910-8978-C347125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0D790-E595-4352-BAF3-085CFEF4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4EFD1-A948-4D91-8CD1-51FB70F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AGENT MARKET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06651-6C38-4978-901F-E92CE1D1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Agents carry market state like real participants.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E03ED-DB1C-4250-8BD8-771B066A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src/lib/agents.ts and src/lib/types.ts.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A6F6E-1592-4C8B-B756-B215DF8B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FF6C7-8C90-452B-B477-B62AB4B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Each agent is more than a role prompt: it has price, latency, factuality, collaboration, Beta trust, uncertainty, Elo, runs, wins, and losses.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D9343-8900-473C-88A0-36A3BEF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0334625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1C35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C1739-DC3B-47EB-BA01-D134E50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0A0D2-8D4E-42F6-A8B1-A0A8819F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5F787-B8E4-4B15-9A9B-08D7B6C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rep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76977-1266-4343-9AC4-32915B9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state carried forward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855A3-3A99-4179-92C1-8297124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0388"/>
            <a:ext cx="979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4C01D-FD67-48EF-B06B-D7827CF6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12030-A225-418D-8671-23A2CA74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Planner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BCD8F-FBBA-4698-855F-9EBECBD7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480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decomposition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55535-9FA5-4405-BB35-709197FE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480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88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487980-33DD-4FB5-92D9-44C6F96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24225"/>
            <a:ext cx="268224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C1DBFD-1859-4043-BD8F-78C9782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5FCDDD-CCD4-4333-A357-8163FBBA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153C82-A48F-4721-BBC0-6E6CE920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Research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C5ED5-E4A7-47E7-ABE8-522DC6C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147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market analysis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0423B8-B732-4197-B98B-79D658E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147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78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43C9AD-DFAE-4D75-B35F-7CB6985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90925"/>
            <a:ext cx="237744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BE666A-7BA3-43AD-BE4A-90DE39D3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5C4F4A-4311-4268-94DB-6B36FE7F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1B4A7-B2C4-407C-8F96-A34F4A10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SourceVerifier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06A82C-AE73-4CA0-9559-87D41BBC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814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claim validation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3EE1C2-693E-4215-B8BF-078C6FD0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814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5B6A4C-EF16-4348-B4BC-FDCE36D9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27736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1B70FB-0683-41E7-9301-E2BE71C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278D92-B6FD-42FC-8E13-5EFAB82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0C357F-24AF-4FCB-9412-70D635A9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Builder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9DE0B0-D599-45E2-9311-FBC050E5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481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product synthesis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F8D7B9-DE5C-48AC-BA34-10E7301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481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80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3A90E2-F511-4012-A1B6-D5780A05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24325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E41A58-8D7C-46B1-8CC9-8D61B9B1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A32D9A-2BFC-410C-B671-02F52E39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2A7947-50A0-465F-AADA-53C030B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F687EC-3B73-48DA-A64B-B9E9C8CB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148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narrative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CAE1BC-9CCE-4D5D-B076-81ADC56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148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86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39A48E-AA91-44BD-904B-6A960AAA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262128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B31C5F-F6F8-4DA7-A83E-4A71EA2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053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567183-1D3B-45E6-BFF6-BCA3EE3E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59349D-B052-434C-BA32-6598792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815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Skeptic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1138D0-D9E2-442B-97CA-1522558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815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risk analysis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E57BBB-8018-45DE-BEC6-753612E0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815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AD0EF1-904B-4260-91D1-9E9F3B2E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57725"/>
            <a:ext cx="283464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3ABB47-79C0-4471-AB0A-79479A07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A0539E-F3F7-410B-BCD1-32A5070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3958CA-A316-4EAC-B658-60AB01A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EBBAEA-2D4A-4EC5-9751-701D2544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482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quality scoring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5EA293-A60E-4255-8FA1-20077C89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482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90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FBB146-4794-4ADD-8DAB-9F35D44C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24425"/>
            <a:ext cx="2743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9B25E4-C7DB-47AF-AA8D-9C701D7D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27D3B1-606F-4417-9BBE-E5F66D06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A1CEE6-60CF-4736-A2BF-A669041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MarketMaker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811A1D-828F-409D-9DB0-0620047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149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routing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5A4215E-0087-4EB8-BC74-CAEBC1FB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149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6CFF"/>
                </a:solidFill>
                <a:latin typeface="Helvetica"/>
                <a:ea typeface="Helvetica"/>
                <a:cs typeface="Helvetica"/>
              </a:defRPr>
            </a:pPr>
            <a:r>
              <a:t>92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27FF06-FB1F-496A-9476-9B9B1F8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91125"/>
            <a:ext cx="28041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D88619-5838-4D9B-AE39-AB14ED6B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054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3537B06-23F4-452C-AAFB-331A86E6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33A238-499A-4D49-B6D7-33B4FD9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81625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Reputation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994CD0-DD2E-461A-9392-2C8065E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81625"/>
            <a:ext cx="1952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memory update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FE1807-C47B-4D86-BB68-3B6E6A25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816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89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4D8036-C300-4231-9889-C33B0A0C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27127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352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8115AD-CF19-4435-8AF2-51C04CB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721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Beta | Elo | UCB | graph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82E88A2-243A-40AE-9149-C18383D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03346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1714"/>
          </a:solidFill>
          <a:ln xmlns:a="http://schemas.openxmlformats.org/drawingml/2006/main" w="9525">
            <a:solidFill>
              <a:srgbClr val="00A3FF">
                <a:alpha val="26667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E98274-5AF7-4A77-954B-FE32DD5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24575"/>
            <a:ext cx="942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Routing becomes inspectable because every selected agent has a history, a price, a risk profile, and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20010770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F8ED9-6619-4209-A099-CEE984DB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4B1F5-9CD0-4AB8-A9A6-5EC5A29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21B85-4F0C-4837-98DD-4B73E9E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7D24D-AA99-48EF-9AC5-BA499FBF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8A938-CD2C-4F26-9F5A-3A8BF27F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9E2C8-0996-41B8-B113-2C18D44F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4F2F0-95FC-43B5-AC3E-9797F4DA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220CD-A82B-45F7-924F-615B021F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1A593-34C7-4304-B406-37C8F186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ACCDD-9D3A-4836-AACB-AEB75B80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1834C-F96B-4983-A609-286803C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28B83-C82D-48C4-9A5B-4DC45CF8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C3E7E-04C5-4AAA-851B-503C49A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99528-22A2-4623-AF3A-49DCBA0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F70C0-9954-40AA-9AAA-6A26775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B5076-CD02-4D97-9608-74C0A64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4720D-F711-4EE8-8088-1A45FBF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D5C94-746B-4EA6-8DD6-93F5861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DEMO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1A658-652A-4C7E-B4CD-8373325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The demo shows learning, regression detection, and recovery.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F9DB1-755C-48BF-A56A-0B5F030B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internal demo values from src/lib/orchestrator.ts and /api/mission fallback.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25D2B-0F9D-4149-84A1-C594C22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7A247-C5A8-4724-B886-7F2BAD96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857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This is not an external benchmark. It is the product proof loop: evaluation changes memory, and memory changes routing.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EAC49-765E-4305-A807-F21876C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7524750" cy="3448050"/>
          </a:xfrm>
          <a:prstGeom xmlns:a="http://schemas.openxmlformats.org/drawingml/2006/main" prst="roundRect">
            <a:avLst>
              <a:gd name="adj" fmla="val 1657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1D36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6FBDB-C3C3-4F31-B72A-6ABA00AD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4935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EEC84-8DAB-4D52-842B-D10096F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" y="2724150"/>
            <a:ext cx="1143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BAEA0-7856-40F7-BD1A-E982BA5C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85223"/>
            <a:ext cx="781050" cy="1515428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4D5E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38B4E-02F6-4718-981B-6C027C5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685223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537FF-2735-431C-8248-9842B61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61373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74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4D529-713E-46F8-927D-E3EF1561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721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BFA8E-84FB-4F67-B76A-9C8DBCF1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572125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failure detected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145A5-5172-4FF7-80B4-371BEC92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37084"/>
            <a:ext cx="781050" cy="1863566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1F5C7F-464A-4D2C-A427-C0089B4E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37084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152E8-548D-4B46-A46F-6FC89790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13234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29D54B-12C3-42FB-802E-16DB33E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721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A4F18D-CA5E-4933-BF44-5C599FB7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572125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market learned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3013F7-F92A-4CE9-B39C-6CE09AB2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59956"/>
            <a:ext cx="781050" cy="1740694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E9C63F-F12C-4170-8958-BB30B74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59956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0D931C-B99C-417B-9538-DB84F346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136106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077A9A-AFAF-4373-8FE3-D3C93F2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3721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0F46E-1A5F-4FA7-852E-C09D90CF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72125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over-rotation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79A68F-B079-4467-905C-FDC69E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34690"/>
            <a:ext cx="781050" cy="196596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4F344E-65FD-4EC6-AD6F-E7BEA1F0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3469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BDE0A-E1C0-4E85-8D32-E71FD5A0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1084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96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A7E5C3-84D0-4054-AE4D-B4C8CF2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72100"/>
            <a:ext cx="819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606592-7A85-43D9-9326-EBD3D49A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72125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calibrated recovery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733DE6-215E-4E0F-8999-3F275879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overall score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8F8CAE-CE5F-4100-8A8F-25D16DE8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809875" cy="276225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3F96F0-79F2-422B-8DDD-6CE69E5B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What the arc proves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A29DA0-D053-42E9-BBAE-BA59923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219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2 promotes SourceVerifierAgent after a factuality failure.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0E0753-F7FE-45F8-B5B8-104F7B7D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8588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1A0879-0612-4839-AEC0-90812810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19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3 exposes over-optimization: skepticism hurts narrative quality.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7D40EF-EE13-4BF1-9EF7-0A800F32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5338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04C4BF-0E8A-4F1A-9730-686EE1B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219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4 rebalances the swarm and reaches the best internal score.</a:t>
            </a:r>
          </a:p>
        </p:txBody>
      </p:sp>
    </p:spTree>
    <p:extLst>
      <p:ext uri="{BB962C8B-B14F-4D97-AF65-F5344CB8AC3E}">
        <p14:creationId xmlns:p14="http://schemas.microsoft.com/office/powerpoint/2010/main" val="5356292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D23587-6190-4EBC-BAB4-80F2C8F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6D333-8A95-411D-AC5A-5500119F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85770-A3F7-44CA-923E-6F1263E2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D5974-05E9-461C-A1CE-40935A3D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2CE0-917C-4199-8748-0D89A54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93BA8-3361-4ABF-AFA4-A604509D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FA0FF-ECC2-4671-968C-AD8B056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ABC6F-CE48-4612-BF7E-17844762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E75B6-63BF-40F6-8294-23EFA93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880A6-63A6-4344-BF40-2878500B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A36A7-0062-4F00-ACDC-99221E89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821EA-7A85-4680-86B4-45CC9B5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CBC2F-14B3-4D84-9CFD-6651270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85C42-DF8C-4E2D-96DC-78CED56D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85DFD-0BFE-466B-AEDE-A599EC3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F62A7-EFF8-4C9C-A117-3324971C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1CE12-9AC9-4248-9D00-07A4F6F7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851DC-944C-4D44-B779-72D05D07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PRODUCT SURFACE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C699-BCFB-44DB-963E-90D316F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The dashboard makes the market inspectable.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8CAC3-B7DA-49E9-83C9-AF8767F4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src/app/demo/page.tsx.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C8B27-3878-48B3-88F4-CE7C09B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9655A-B08E-467C-AE0A-197C64F5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172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50908"/>
          </a:solidFill>
          <a:ln xmlns:a="http://schemas.openxmlformats.org/drawingml/2006/main" w="9525">
            <a:solidFill>
              <a:srgbClr val="18342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172AC-1EA2-4C19-81A4-EEEB4A10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5722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81411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BAD18-B682-4784-940A-2AE330E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47925"/>
            <a:ext cx="533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Mission: build a launch plan for an AI product...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33667-39B4-46D4-95C0-BCBC619C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27241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A3FF">
                <a:alpha val="26667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46EF0-979D-4C4F-AB86-9BC6B241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78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Run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14308-3856-4B25-8C6D-8C959288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28875"/>
            <a:ext cx="78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/ 96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4CCEB-EA46-4085-A229-4987877B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476500" cy="226695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63D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3BCF62-5922-4070-94C8-990A086B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Agent registry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5A269-AB8B-4D2E-B944-CEE78EBD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2476500" cy="226695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63D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4547E-C382-4B3D-8265-9D33A2B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337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MarketMaker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D6BB7-CCE4-4DBA-B552-68B7CCF5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3981450" cy="226695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63D3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786F1E-55AB-45F8-9F1B-3101845A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Trace + contribution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E2963-70E7-438C-A113-7451485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32861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Weave calls, token totals, latency, evaluation scores, contribution ledger, trust graph, and reputation deltas all render in one workflow.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0D37D-B239-40ED-A5C6-E5073E2E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244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9F1E7-7878-4EAD-B742-F0AB4316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2495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00A9DC-3F8F-4C12-BB50-AE229178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9700"/>
            <a:ext cx="1885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8C587A-BD47-4BD3-92D3-327C470F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57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The user can see why the swarm changed.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63F072-CE2E-4C8C-BB4C-214693E6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Skeptic 93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E964D5-A747-4B36-A20D-2A0B121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71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E5A361-5DB3-4CBD-837E-C1DBC0D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909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SourceVerifier 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B385D1-662D-4AD9-BC97-33B307D0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67175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F2D6DC-6DF4-45B9-9A02-D54B7734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MarketMaker 92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63824D-4945-4104-B662-122B4635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624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0F70D7-CFED-4405-A8C8-FFB63A9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815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Pitch 86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82A81D-40E3-4C7A-AE33-A7108C6F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577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29C733-3FF6-44FC-AD08-F1CC1A0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Research 78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DA18CA-A70E-41B1-8971-FE2B7C7C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A55200-1C38-491F-B7CB-71704F6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1857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market_research -&gt; verifier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909D29-DF25-4190-894B-BB832649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38588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F684EA-E9B5-40CD-BABC-DAE28F6F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67175"/>
            <a:ext cx="1857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pitch_script -&gt; pitch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8A124E-F67B-4796-9496-5A202C97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91013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F64264-9676-4EB7-A964-58E66B7B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19600"/>
            <a:ext cx="1857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risk_review -&gt; skeptic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62D39D-0067-4F86-BADB-32DE08ED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43438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66B948-603F-4445-BA31-138A4DE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72025"/>
            <a:ext cx="1857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final_eval -&gt; evaluator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87AC3F-D26B-4C15-8F90-5C14B543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95863"/>
            <a:ext cx="188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9950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DB2FA-9C03-456A-801D-79E21C3A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914A3-C878-446B-832D-DB1E565D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323A8-D07B-4AFC-898F-5A36ABB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9A798-BF59-42EA-A445-C8619D41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F7E40-FD85-45A0-A162-F26BD2EE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372AA-2F4C-4064-BD86-B3FFD708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8676C-5029-4BE0-AA64-5F4248D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DDED5-3781-4CA5-80EF-E89860F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35020-7BA4-4BF1-B51C-3606FEE0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8B0DC-32F0-4EBA-A9D7-442E1D6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14E35-0B52-4966-AAAF-E3B484E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0B302-1C78-4BB8-ACAF-249DB4EB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81E68-A08E-4A78-9B78-B9FDFDFC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042A3-E04E-4A92-9510-F1606FB5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DA27D-C563-4AF9-A944-E5EFBBA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BF5F6-1EEC-41AE-B1AF-468633E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79C5F-8F81-4A0A-80B9-5319E277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8CA20-90E0-45AA-AF72-E4CFE75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WEDGE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28592-1AD6-4366-A48F-AA028DA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The wedge is trust infrastructure for the agent economy.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56506-9019-40AD-A28D-CCF46082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Source: project README, paper limitations, and implemented roadmap surface.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BAC71-5714-4F4A-8EDA-C8ED9866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AEC7B-C3FE-45FB-AEC6-B618E69B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09900" cy="2400300"/>
          </a:xfrm>
          <a:prstGeom xmlns:a="http://schemas.openxmlformats.org/drawingml/2006/main" prst="roundRect">
            <a:avLst>
              <a:gd name="adj" fmla="val 1984"/>
            </a:avLst>
          </a:prstGeom>
          <a:solidFill xmlns:a="http://schemas.openxmlformats.org/drawingml/2006/main">
            <a:srgbClr val="100D05"/>
          </a:solidFill>
          <a:ln xmlns:a="http://schemas.openxmlformats.org/drawingml/2006/main" w="9525">
            <a:solidFill>
              <a:srgbClr val="FFB020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F4F03-10D6-4A09-9577-DC939C9A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Why 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71F2D-1142-48B6-9F09-5261A2A7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286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Agent supply is exploding, but buyers still lack transparent performance, routing, and failure memory.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91860-B02D-47ED-B406-D632C58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009900" cy="2400300"/>
          </a:xfrm>
          <a:prstGeom xmlns:a="http://schemas.openxmlformats.org/drawingml/2006/main" prst="roundRect">
            <a:avLst>
              <a:gd name="adj" fmla="val 1984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D28A0-AE7C-4C96-825D-20618EBE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Why this wins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58F09-4A6F-41F7-9A7C-D2E935E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2286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SwarmDAQ turns each run into market evidence: bids, traces, evals, reputation deltas, and collaboration memory.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C17EE-4220-4E0A-AF43-0D0B05C5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009900" cy="2400300"/>
          </a:xfrm>
          <a:prstGeom xmlns:a="http://schemas.openxmlformats.org/drawingml/2006/main" prst="roundRect">
            <a:avLst>
              <a:gd name="adj" fmla="val 1984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00A3FF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46928-3202-4BDB-8CD7-B496F8B1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What expands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DD5C2-69FD-47BB-9D1F-A79DED15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2286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External benchmarks, larger agent catalogs, real budgets, policy constraints, and audited production traces.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1FFB9C-8031-4943-B9C5-599BF8A0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813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C425E-1939-495D-8228-27F647C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813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54891-D5DD-4AD2-BA49-F247D71B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96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FF88">
                <a:alpha val="24706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E45F6-8AFD-4A7F-8385-5DD4763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Positioning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620487-3CF0-424A-82AE-1D3FA55A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Not a chatbot or generic agent framework. The exchange layer decides which agents are worth hiring.</a:t>
            </a:r>
          </a:p>
        </p:txBody>
      </p:sp>
    </p:spTree>
    <p:extLst>
      <p:ext uri="{BB962C8B-B14F-4D97-AF65-F5344CB8AC3E}">
        <p14:creationId xmlns:p14="http://schemas.microsoft.com/office/powerpoint/2010/main" val="16778190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764E2-54A6-451F-80BB-893AC0AD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5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AECB2-46BF-48D3-B2D6-CA8D2484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504"/>
              </a:gs>
              <a:gs pos="56000">
                <a:srgbClr val="07120F"/>
              </a:gs>
              <a:gs pos="100000">
                <a:srgbClr val="0B0A0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838DE-FB6C-4366-8CE3-280BD3D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156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826BA-BFF7-4A99-8EA6-D2F16A9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D7952-FE8B-4FD8-BF1A-9BBDBCD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372BC-B90F-44C4-8616-D9543642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E933-32BF-4FAD-B802-CCB43CFA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4FC4-27D1-41C1-86C9-CEFD5105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9DADD-56A6-4785-8061-4C748B5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D4B4C-7C72-45C0-B770-9A6F0204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3A656-F186-4CA3-B9F9-6BDE7E06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381" y="0"/>
            <a:ext cx="52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EA9DE-8C08-41E0-A91A-A0A9E76C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647DB-93A5-4D96-9244-93858E17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2B042-4826-410D-A487-00998C3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0C4F3-3779-440E-974A-41D6766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381"/>
            <a:ext cx="12192000" cy="5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A61F1-E5D4-4A06-A929-3835FC9D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4838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5295-EE9B-4903-961E-59D482D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9561E-608F-499E-9120-A6345ED0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809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Assets: GitHub repo, live demo, LaTeX paper, generated PPTX deck.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C9AA4-1AA8-4650-A42E-522EC585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D857C"/>
                </a:solidFill>
                <a:latin typeface="Helvetica"/>
                <a:ea typeface="Helvetica"/>
                <a:cs typeface="Helvetica"/>
              </a:defRPr>
            </a:pPr>
            <a: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B81BA-6486-4820-A482-DABFEAF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7250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FF88">
              <a:alpha val="7843"/>
            </a:srgbClr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C0A97-09CE-4B53-A7C5-2C4EB7E6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462D7-4E1D-492F-AB12-D02D3EA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A3511-4BE9-49C3-B558-3B23347E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8096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Make agent routing auditable.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9AC2E-D530-41ED-BEA1-E61C872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723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Every agent gets a market price, performance history, trace, and reason to improve.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DD075-EDA7-4B81-8F98-A0698039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9146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B2BE5-1BB3-4E7F-90D9-B490746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Live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D66EF-5625-4504-BD8F-F4E4EB5A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swarmdaq.vercel.app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D6653C-8B81-45EC-A68E-87F8ECAA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29146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00A3FF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4E4284-4E9B-48CF-9079-EA8CABB0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Repository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890A0-D2EF-47F0-8D8F-CC373045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005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github.com/.../swarmdaq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31E21D-350E-40A5-8171-4C5D635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29146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00D05"/>
          </a:solidFill>
          <a:ln xmlns:a="http://schemas.openxmlformats.org/drawingml/2006/main" w="9525">
            <a:solidFill>
              <a:srgbClr val="FFB020">
                <a:alpha val="33333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B6BC7-CA5F-4BA8-9524-AAEA8210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Scientific paper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7C7A35-E59D-48A5-8984-A0DE6871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624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9F7F0"/>
                </a:solidFill>
                <a:latin typeface="Helvetica"/>
                <a:ea typeface="Helvetica"/>
                <a:cs typeface="Helvetica"/>
              </a:defRPr>
            </a:pPr>
            <a:r>
              <a:t>paper/main.tex + Actions PDF artifact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F86FE5-C6AA-4A52-B038-EB62CCCC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3038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BF599-E933-43D7-B532-B19A9443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9239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4BBB2"/>
                </a:solidFill>
                <a:latin typeface="Helvetica"/>
                <a:ea typeface="Helvetica"/>
                <a:cs typeface="Helvetica"/>
              </a:defRPr>
            </a:pPr>
            <a:r>
              <a:t>Next milestones: external benchmark suite, richer agent catalog, budget-aware clearing, adversarial bid tests, production trace corpus.</a:t>
            </a:r>
          </a:p>
        </p:txBody>
      </p:sp>
    </p:spTree>
    <p:extLst>
      <p:ext uri="{BB962C8B-B14F-4D97-AF65-F5344CB8AC3E}">
        <p14:creationId xmlns:p14="http://schemas.microsoft.com/office/powerpoint/2010/main" val="1886681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2026-06-06T21:54:19.5630000Z</dcterms:created>
  <dcterms:modified xsi:type="dcterms:W3CDTF">2026-06-06T21:54:19.5630000Z</dcterms:modified>
</coreProperties>
</file>