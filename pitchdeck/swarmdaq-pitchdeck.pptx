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eb88dbb4db4e0c" /><Relationship Type="http://schemas.openxmlformats.org/officeDocument/2006/relationships/extended-properties" Target="/docProps/app.xml" Id="R649b69aadf05496e" /><Relationship Type="http://schemas.openxmlformats.org/officeDocument/2006/relationships/officeDocument" Target="/ppt/presentation.xml" Id="R901ba07f04ee46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cd9545a7a460f"/>
  </p:sldMasterIdLst>
  <p:notesMasterIdLst>
    <p:notesMasterId xmlns:r="http://schemas.openxmlformats.org/officeDocument/2006/relationships" r:id="Rc9c0d847049c473c"/>
  </p:notesMasterIdLst>
  <p:sldIdLst>
    <p:sldId xmlns:r="http://schemas.openxmlformats.org/officeDocument/2006/relationships" id="256" r:id="Rb006d035651b43d7"/>
    <p:sldId xmlns:r="http://schemas.openxmlformats.org/officeDocument/2006/relationships" id="257" r:id="R5d4862267f894ad2"/>
    <p:sldId xmlns:r="http://schemas.openxmlformats.org/officeDocument/2006/relationships" id="258" r:id="R3160f8a6b55242f4"/>
    <p:sldId xmlns:r="http://schemas.openxmlformats.org/officeDocument/2006/relationships" id="259" r:id="R64ebb32f19c34cb3"/>
    <p:sldId xmlns:r="http://schemas.openxmlformats.org/officeDocument/2006/relationships" id="260" r:id="R412f2b1f857e45e5"/>
    <p:sldId xmlns:r="http://schemas.openxmlformats.org/officeDocument/2006/relationships" id="261" r:id="R0273ca5f5c8e4e53"/>
    <p:sldId xmlns:r="http://schemas.openxmlformats.org/officeDocument/2006/relationships" id="262" r:id="Rcbf5e0667c4347cb"/>
    <p:sldId xmlns:r="http://schemas.openxmlformats.org/officeDocument/2006/relationships" id="263" r:id="R542838f1e15e449b"/>
    <p:sldId xmlns:r="http://schemas.openxmlformats.org/officeDocument/2006/relationships" id="264" r:id="R2ac3ac4e3ee74f1f"/>
    <p:sldId xmlns:r="http://schemas.openxmlformats.org/officeDocument/2006/relationships" id="265" r:id="R44e98092ca0a4a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e8f1ef935451e" /><Relationship Type="http://schemas.openxmlformats.org/officeDocument/2006/relationships/slideMaster" Target="/ppt/slideMasters/slideMaster1.xml" Id="Re04cd9545a7a460f" /><Relationship Type="http://schemas.openxmlformats.org/officeDocument/2006/relationships/notesMaster" Target="/ppt/notesMasters/notesMaster1.xml" Id="Rc9c0d847049c473c" /><Relationship Type="http://schemas.openxmlformats.org/officeDocument/2006/relationships/presProps" Target="/ppt/presProps.xml" Id="R6e2fe377cf5f4801" /><Relationship Type="http://schemas.openxmlformats.org/officeDocument/2006/relationships/viewProps" Target="/ppt/viewProps.xml" Id="R67ff8227797c4d67" /><Relationship Type="http://schemas.openxmlformats.org/officeDocument/2006/relationships/tableStyles" Target="/ppt/tableStyles.xml" Id="Rf4b9cbbfba814c9b" /><Relationship Type="http://schemas.openxmlformats.org/officeDocument/2006/relationships/slide" Target="/ppt/slides/slide1.xml" Id="Rb006d035651b43d7" /><Relationship Type="http://schemas.openxmlformats.org/officeDocument/2006/relationships/slide" Target="/ppt/slides/slide2.xml" Id="R5d4862267f894ad2" /><Relationship Type="http://schemas.openxmlformats.org/officeDocument/2006/relationships/slide" Target="/ppt/slides/slide3.xml" Id="R3160f8a6b55242f4" /><Relationship Type="http://schemas.openxmlformats.org/officeDocument/2006/relationships/slide" Target="/ppt/slides/slide4.xml" Id="R64ebb32f19c34cb3" /><Relationship Type="http://schemas.openxmlformats.org/officeDocument/2006/relationships/slide" Target="/ppt/slides/slide5.xml" Id="R412f2b1f857e45e5" /><Relationship Type="http://schemas.openxmlformats.org/officeDocument/2006/relationships/slide" Target="/ppt/slides/slide6.xml" Id="R0273ca5f5c8e4e53" /><Relationship Type="http://schemas.openxmlformats.org/officeDocument/2006/relationships/slide" Target="/ppt/slides/slide7.xml" Id="Rcbf5e0667c4347cb" /><Relationship Type="http://schemas.openxmlformats.org/officeDocument/2006/relationships/slide" Target="/ppt/slides/slide8.xml" Id="R542838f1e15e449b" /><Relationship Type="http://schemas.openxmlformats.org/officeDocument/2006/relationships/slide" Target="/ppt/slides/slide9.xml" Id="R2ac3ac4e3ee74f1f" /><Relationship Type="http://schemas.openxmlformats.org/officeDocument/2006/relationships/slide" Target="/ppt/slides/slide10.xml" Id="R44e98092ca0a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706c355dc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7d52c015924187" /><Relationship Type="http://schemas.openxmlformats.org/officeDocument/2006/relationships/notesMaster" Target="/ppt/notesMasters/notesMaster1.xml" Id="R0871b8389cf5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22a01bf804073" /><Relationship Type="http://schemas.openxmlformats.org/officeDocument/2006/relationships/notesMaster" Target="/ppt/notesMasters/notesMaster1.xml" Id="R84fec6eaed35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c6c6602d8b4440" /><Relationship Type="http://schemas.openxmlformats.org/officeDocument/2006/relationships/notesMaster" Target="/ppt/notesMasters/notesMaster1.xml" Id="R67ccbe0db28f4a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91161dd164282" /><Relationship Type="http://schemas.openxmlformats.org/officeDocument/2006/relationships/notesMaster" Target="/ppt/notesMasters/notesMaster1.xml" Id="R2d6b31dbad2d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8489db72b4439" /><Relationship Type="http://schemas.openxmlformats.org/officeDocument/2006/relationships/notesMaster" Target="/ppt/notesMasters/notesMaster1.xml" Id="Ra4fb7870f91c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0f60fd5b94473c" /><Relationship Type="http://schemas.openxmlformats.org/officeDocument/2006/relationships/notesMaster" Target="/ppt/notesMasters/notesMaster1.xml" Id="R4cf4e6a5dac942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b87af5cf5e4870" /><Relationship Type="http://schemas.openxmlformats.org/officeDocument/2006/relationships/notesMaster" Target="/ppt/notesMasters/notesMaster1.xml" Id="R2478929d957044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49f8ac3e245f5" /><Relationship Type="http://schemas.openxmlformats.org/officeDocument/2006/relationships/notesMaster" Target="/ppt/notesMasters/notesMaster1.xml" Id="R23d5b9cbf2e241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7818c960d9462f" /><Relationship Type="http://schemas.openxmlformats.org/officeDocument/2006/relationships/notesMaster" Target="/ppt/notesMasters/notesMaster1.xml" Id="Rb8a7dfeac09245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359c266af4502" /><Relationship Type="http://schemas.openxmlformats.org/officeDocument/2006/relationships/notesMaster" Target="/ppt/notesMasters/notesMaster1.xml" Id="R30c77d878ba34a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3d17937de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eb34177c04f09" /><Relationship Type="http://schemas.openxmlformats.org/officeDocument/2006/relationships/slideLayout" Target="/ppt/slideLayouts/slideLayout1.xml" Id="R15aac797edd3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ac797edd3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da6b2ed24fb3" /><Relationship Type="http://schemas.openxmlformats.org/officeDocument/2006/relationships/notesSlide" Target="/ppt/notesSlides/notesSlide1.xml" Id="R6ac7c9fa00d4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ae614caaa4355" /><Relationship Type="http://schemas.openxmlformats.org/officeDocument/2006/relationships/notesSlide" Target="/ppt/notesSlides/notesSlide2.xml" Id="R45fece745d6346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7cc4cfc7c4384" /><Relationship Type="http://schemas.openxmlformats.org/officeDocument/2006/relationships/notesSlide" Target="/ppt/notesSlides/notesSlide3.xml" Id="R5d129bb6ab6c45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6c7da3b514bc2" /><Relationship Type="http://schemas.openxmlformats.org/officeDocument/2006/relationships/notesSlide" Target="/ppt/notesSlides/notesSlide4.xml" Id="R2462a3a4275748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87b6e63574be0" /><Relationship Type="http://schemas.openxmlformats.org/officeDocument/2006/relationships/notesSlide" Target="/ppt/notesSlides/notesSlide5.xml" Id="R5807592d4e29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45adb156d4355" /><Relationship Type="http://schemas.openxmlformats.org/officeDocument/2006/relationships/notesSlide" Target="/ppt/notesSlides/notesSlide6.xml" Id="Rb2c46293fddd46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caef2167e427f" /><Relationship Type="http://schemas.openxmlformats.org/officeDocument/2006/relationships/notesSlide" Target="/ppt/notesSlides/notesSlide7.xml" Id="R7df415bd50394c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aea3a51fa4246" /><Relationship Type="http://schemas.openxmlformats.org/officeDocument/2006/relationships/notesSlide" Target="/ppt/notesSlides/notesSlide8.xml" Id="R703e21a02765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e5dc5fd544824" /><Relationship Type="http://schemas.openxmlformats.org/officeDocument/2006/relationships/notesSlide" Target="/ppt/notesSlides/notesSlide9.xml" Id="R692ea6fa1f1a46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dacd7613f48ac" /><Relationship Type="http://schemas.openxmlformats.org/officeDocument/2006/relationships/notesSlide" Target="/ppt/notesSlides/notesSlide10.xml" Id="Rab6e51322d2d40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1C106-0C92-4669-985C-114EAA81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B8A86-63ED-4E49-81FE-62906FD2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8EC00-5384-4A87-9919-9C61EDCD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9F547-7BB0-45DF-BB22-B5E80A9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5BF6F-1932-491D-AE21-C6D7EEA7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3F19-317E-455A-A8BF-9D9E0EE4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C7CF0-6F5B-4332-A811-12018D8A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BFD1C-52B8-4DA5-84E0-583D1F58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569D8-6AEF-4F9D-875A-2380B5D6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268CA-E86D-4A59-9CB3-F08B70BF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594A9-5951-4BAD-9553-C11B02B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0D9DC-6D9B-4BE3-8F6C-D747FA9E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C9C46-60F9-4162-ABC1-CF1EA925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CCD96-3B5D-4D77-A520-B74C37F0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AAEF0-604F-4816-8B40-229E1327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6501F-4CF9-45DB-83CB-A18D9346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91091-B710-49D0-80CA-8BB0A43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4556A-4306-43CF-BC67-7925A38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C4A16-249C-47AD-970F-5A8DDDF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A1B08-7995-48F1-ACC4-21D0D1F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268ED-843B-40ED-A0DD-063BF80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E308D-F94B-4248-8852-119A0F96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66D22-61BF-467B-BF9C-9F8B534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3C5F8-888A-4A2E-9D78-3990AF30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2370B-37EC-4EA7-B235-E0D17AB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C7C7F-2C17-4A9B-ADB4-010AE96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167624-528E-428C-8F0C-71D5B0F7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SwarmDAQ repo, paper, and live demo.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B0B35-B3AE-429D-BFA4-BB15ED08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9D59C9-9496-45A6-90DC-17BCBBE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7145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FF88">
              <a:alpha val="7843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4C9FE-1465-448F-845D-34A5B96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81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6503EB-626B-4D8E-B92E-9BBC6D1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LIVE TECHNICAL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155180-3EA5-4B4E-B6DB-604B3D0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5334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C31FF0-9CBF-4A9D-863A-5E653F2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 market-based performance exchange for self-improving AI agent swarms.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3563D-98A1-41FE-BD2A-6E67FD9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533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Agents bid on tasks. A MarketMaker routes with math. Weave traces the run. Evaluation updates reputation memory. The next swarm is smarter.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2A299F-74E0-4BCE-82EB-6F16884E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2000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BABD16-C122-4C30-A500-8D2E2485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specialized agents with persistent market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F01AED-6022-4FA3-BF85-0827FD94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86425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0EE556-9CFB-4BBB-93B3-02B01987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8155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7+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1611F-86F8-4A2E-9FB7-5B317CC4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959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routing signals beyond prompt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B405F1-9E80-4B26-82FF-5EE4990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86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6DA776-C5DF-46C3-B45F-6FDCCEE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81550"/>
            <a:ext cx="12192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A44C82-AAEA-4D5E-81FC-817BB52A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95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feedback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C4F461-1C99-492A-873E-59244B1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864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22472D-6A18-4757-B26C-82D16A0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5725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7362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B00ADF-2E7E-4F0E-99F7-8AD8828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>
              <a:alpha val="5098"/>
            </a:srgbClr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9B4C5E-3306-475C-B1D9-AA832263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0132B1-D6AD-4BD7-B736-506E9BD4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62200"/>
            <a:ext cx="209550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14BF4A-7B1F-4C2C-A292-C7531BB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9555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MarketMaker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E49CB9-4AA3-4B02-B77B-F631ADC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71775"/>
            <a:ext cx="1790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weighted score: skill, trust, UCB, bid, Elo, graph, cost, latency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730784-6619-4266-B01F-DA13BC97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17145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5F2075-2EC0-4CEF-A6BE-8F37E898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811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47ED03-3B4E-448C-B9AD-7854CEF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quality, factuality, usefulness, actionability, collaboration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ED8042-6E8C-4CA1-A4BB-0777342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71450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93EE09-596D-4AA7-A918-A0C80904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433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Memory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A9AEA6-471B-4E1D-9683-C99373A0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9575"/>
            <a:ext cx="140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Redis or in-memory: Beta, Elo, task history, graph trust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0EEA0F-373F-4430-B88A-722648B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809750" cy="8001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A86CFF">
              <a:alpha val="6275"/>
            </a:srgbClr>
          </a:solidFill>
          <a:ln xmlns:a="http://schemas.openxmlformats.org/drawingml/2006/main" w="9525">
            <a:solidFill>
              <a:srgbClr val="A86CFF">
                <a:alpha val="4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5DA516-B7DC-450F-A260-4E30A71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Agents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6E1A5C-2AFE-43E7-AA52-97526544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14825"/>
            <a:ext cx="1504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planner, research, verifier, builder, pitch, skeptic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884F72-DE1B-479D-8D2E-B3B56F7F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478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68DAA2-7548-4EF3-A3EF-63564D9B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19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9DD94B-626E-4EE8-A9E8-4739EE41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38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91F95A-5FB0-4763-9484-A4B8596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57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performance market</a:t>
            </a:r>
          </a:p>
        </p:txBody>
      </p:sp>
    </p:spTree>
    <p:extLst>
      <p:ext uri="{BB962C8B-B14F-4D97-AF65-F5344CB8AC3E}">
        <p14:creationId xmlns:p14="http://schemas.microsoft.com/office/powerpoint/2010/main" val="3054271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B2069C-C667-4D4D-BEE7-9393D169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406E4-ACF1-4300-8C81-0D2DCBE9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C73E2-03C9-4574-B071-C5F4EAA0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CB434-A5E1-4B46-97D9-EC65FF46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1E3B-ECBF-4CEF-A467-7FE97396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3BF3F-495A-483A-90A2-A715B85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A1E3-0D3A-4D8A-B129-3A8A5435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97A69-6261-4F0C-BD50-A996DD1B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C1E7D-6300-4728-9963-9A489DF9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50738-FBC2-457B-8890-511AB40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C8F06-F80F-4F44-B66D-1DF1222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BF362-3D80-42F4-8C9A-4AB653E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7564E-CB2F-4576-AFDD-F7EA3E3D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E49AD-99AA-4ACB-ACFB-11F2FE51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B7281-DFB6-475A-807A-F7820844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ACB0D-4C6D-4BB7-94AF-EF2DC0A5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254A6-B6E9-4051-AB83-E2563FD1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3C642-83A6-4ED7-828C-E957C735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26A54-958F-4880-956C-EE07297B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2C1DD-305D-4BBE-B6EE-B12B702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4861A-2C38-4572-8DF1-4AED7892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80281-F42A-496F-A1C8-7415FFA7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059C5-A043-47FC-A4CD-CC29BE0B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C17DF-2E16-4F6D-8964-9464BCA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C193B-AC04-4174-9564-A6F65DB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2E3F5-EB7C-43F6-99DD-5701AAB9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8DBD0-F297-4EED-A4A2-2683F3A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PROBLEM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55343-2343-4C5B-85D0-8A9BDBC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Agent teams fail when trust is invisible.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2455F-623C-4202-B980-E058279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README problem framing and orchestrator failure mode.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55631-8B4B-465B-9090-D695EF26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D44BF-EF1E-4B36-B97B-6DF86903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Most agent orchestration still behaves like a prompt chain: assign work, hope the output is good, lose the evidence after the run.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A17B6F-8E4A-449F-B4D6-0A6D9516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10287000" cy="1095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A1110"/>
          </a:solidFill>
          <a:ln xmlns:a="http://schemas.openxmlformats.org/drawingml/2006/main" w="9525">
            <a:solidFill>
              <a:srgbClr val="2940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432AB6-0993-411E-AACF-301F0BB9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587068">
              <a:alpha val="6275"/>
            </a:srgbClr>
          </a:solidFill>
          <a:ln xmlns:a="http://schemas.openxmlformats.org/drawingml/2006/main" w="9525">
            <a:solidFill>
              <a:srgbClr val="587068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E017E-078E-4ED8-A920-34F23E5B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1. Static routing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F02DF8-3B90-4C43-B3C4-FE0FD22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manual or sequential assignment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7B73D-D254-4E90-8E6C-BDCEBD0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4D5E">
              <a:alpha val="6275"/>
            </a:srgbClr>
          </a:solidFill>
          <a:ln xmlns:a="http://schemas.openxmlformats.org/drawingml/2006/main" w="9525">
            <a:solidFill>
              <a:srgbClr val="FF4D5E">
                <a:alpha val="4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10246A-B772-4AEB-B817-E57C967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2. Weak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93C31A-218E-4160-A3C2-56A0E5C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14725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unsupported claim or bad fit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BAFB10-7A76-4B13-9B86-F49B8DD1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CEF7A7-1E66-4865-B3FC-3CF7CD9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385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3. No attribution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B34E7B-C16D-4708-9B45-34E34053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14725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which agent failed?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2281E8-DCA4-48E0-B0C7-17C61EA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7145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587068">
              <a:alpha val="6275"/>
            </a:srgbClr>
          </a:solidFill>
          <a:ln xmlns:a="http://schemas.openxmlformats.org/drawingml/2006/main" w="9525">
            <a:solidFill>
              <a:srgbClr val="587068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79F3ED-C6AB-4778-8C50-F41F472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4. No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C6589-D873-417D-8263-E05785F6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14725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same agent reused later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83960B-1DBF-4CEE-AF4D-E7999A51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F38469-0F8A-48CB-BDED-BCE43631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290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02A295-69DD-4EE3-AA66-4EDCF171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8C44D6-EACE-4EAE-BDEE-863A8C30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342900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0A0C"/>
          </a:solidFill>
          <a:ln xmlns:a="http://schemas.openxmlformats.org/drawingml/2006/main" w="9525">
            <a:solidFill>
              <a:srgbClr val="FF4D5E">
                <a:alpha val="4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103E0C-D930-4E71-9A30-349094F3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434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Failure case in demo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1BA4CA-3E90-42C8-80CF-AC42C41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29200"/>
            <a:ext cx="2781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1 detects an unsupported market-size claim. ResearchAgent is penalized, SourceVerifierAgent is promoted, and future routing changes.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984C47-4CB8-4FA7-8F9F-1D897D0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609600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FA1E00-D36C-4D3D-A01B-A3E4ED3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The missing layer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92BE1F-3D50-436F-8E96-09AC0A5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514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 transparent exchange where agents earn or lose trust from actual performance, not static role labels.</a:t>
            </a:r>
          </a:p>
        </p:txBody>
      </p:sp>
    </p:spTree>
    <p:extLst>
      <p:ext uri="{BB962C8B-B14F-4D97-AF65-F5344CB8AC3E}">
        <p14:creationId xmlns:p14="http://schemas.microsoft.com/office/powerpoint/2010/main" val="13622113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318793-0955-426B-9ADB-F2770D94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BDB67-029F-4395-8303-DEC52A2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17E67-7CF1-46CB-A1AF-30C7A53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37B7F-B0A9-4718-8F03-0E0625FB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12835-E630-4FAC-BF8C-FC1FFE5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DB6B4-B84A-4056-A879-43384279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4DD0D-198C-4CE6-AD48-557108B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D4117-6B04-4A26-9618-916BF4C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0CB6C-5D62-400E-BBCD-D88FC37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F434F-79C5-4178-B780-3D16E414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A42AB-7984-4D15-9410-B953036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9E9E5-C96D-4FE6-8C0A-4DBA5103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E6CD-7093-4B52-8B34-F91A36F5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D7401-42E2-419F-9BCC-44D45086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27D74-FB87-436B-AEB2-83C329A3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CBA2F-88F7-4826-ADAC-E0F77477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899F6-EAA7-48FE-9519-AFB78C4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F71B8-BA8C-4BD0-BB50-F1FC7746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69B69-55E5-4E3C-90C6-19765099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6DD0B-A41B-41B0-93AB-E6B8A4E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0B338-8BA3-4A9E-8CF6-C760B54F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65871-3124-47D1-9199-8CB78B0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E73FA-AA40-4A0F-A21D-B7FF1C1C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3E699-B7DA-425C-917C-BB9EB231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31F97-FF6B-42EF-B8ED-7AB3E7D0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069FF-C47B-42AF-9FB2-5D26B055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68D7A-31F4-462B-ABAF-F43D7306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SOLUTION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5BB81-4665-4BB4-9442-1185CCBB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product is a market loop, not another agent.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F15C4-536F-43FD-911F-23DF5A2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src/lib/orchestrator.ts, src/lib/memory.ts, src/lib/trace.ts.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FA0ED-2D15-48BA-ADC8-478B86CE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7EE0A4-FA28-47BE-B4A8-72E267E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704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Each mission becomes a repeated decision market: bid, select, execute, trace, evaluate, update.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1F7CE-0030-4A79-BB73-2E0F1DE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09900"/>
            <a:ext cx="8191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5100D"/>
          </a:solidFill>
          <a:ln xmlns:a="http://schemas.openxmlformats.org/drawingml/2006/main" w="9525">
            <a:solidFill>
              <a:srgbClr val="193A3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B73AA-3BEB-4112-8ADA-D281AD2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72132-1550-4AFE-A880-C3E1EFEB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1. 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E85E77-259B-41F6-9370-F746DDE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user intent enters the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FABD8-5DD1-47FD-B6CE-AB7E1D9D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36ACB8-6158-49A5-A3DF-BA501246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2. Task graph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C1011-30B1-4943-B0A6-E877D32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987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PlannerAgent decomposes 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8DB5D0-6CFB-4069-A5E9-23A617A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6D7020-6A01-4687-ABE6-C7912B0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336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3. Agent bids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CC2291-3D02-43A6-96F7-D6A3591B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987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confidence, quality, cost, latency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565706-7685-4E96-9FF2-CAAB96B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16954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A583B3-58C9-4EEE-85AE-EAE8C02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4. MarketMaker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F40726-E526-40A1-994C-7B62FEC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1390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weighted selection function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7CF702-9EC6-443C-BD2A-D82A9FF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A86CFF">
              <a:alpha val="6275"/>
            </a:srgbClr>
          </a:solidFill>
          <a:ln xmlns:a="http://schemas.openxmlformats.org/drawingml/2006/main" w="9525">
            <a:solidFill>
              <a:srgbClr val="A86CFF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E5FCEB-5D94-4DEA-AA96-B8D5A6EC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291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5. Execution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987D12-6A82-4509-B1DB-85F82BDC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0537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Gemini or deterministic fallback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7195F6-EAA4-4FB3-8F0A-5BD5C1E7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C93CD2-3E32-40D5-81DA-8127D15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291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6. Evaluation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728EE8-4B66-4CC8-AA67-9ED6006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0537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six dimensions scored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247C31-3B2C-42F6-8900-F3174C2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428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FE41D2-EE06-4070-9BE6-24E2F136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12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7. Memory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FF36AB-3160-41F6-8A30-957AFE94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Beta, Elo, graph trust, task history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1F2202-1DF2-439D-8ADC-E3140A31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E9C6CC-DAA7-4CF8-B257-0872BC8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F35C66-EBA6-47D0-B5A4-94144A66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4AFD44-4837-414C-A7ED-86F3859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2F5F71-84BB-4E21-BB33-E087B69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196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B7F734-E10C-4A6F-9088-3AEB03E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45904B-24F8-4A6C-BFC0-52C927BC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B9BB9B-E953-4003-A43C-D1577F9C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238375" cy="2857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6BD673-48B7-4D73-B36B-63A2D5FC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Market state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BCC182-4941-4620-A4DF-32702BF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Each run leaves evidence behind: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6A0A4E-2C5E-4603-BB67-824C2927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2DA364-3C9E-434E-A89C-8AABD379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uncertainty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9315-2B0C-4E2E-956C-1B60713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0525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pairwise rating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9D0BA3-040D-4077-AB5D-B98B9842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collaboration graph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E3322D-6E7D-4F80-895B-F9903D4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1806"/>
            <a:ext cx="1562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EB5EBC-3450-401B-BF3A-C2D2DFA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1856"/>
            <a:ext cx="1562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6B6EF0C-D07D-4C80-A2BC-C35057A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1906"/>
            <a:ext cx="1562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A35E76-6A78-4EFC-948D-E3602C9C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21956"/>
            <a:ext cx="1562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939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20F58-8F03-49E7-8A59-2A45705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FF2D4-3C95-4299-84C1-92A7A6B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7CD03-4838-4CEE-8224-445C038F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06C21-0270-493D-B257-7CFF207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5F358-209C-40C5-A4E6-96076DFB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5C7D6-889F-4E8D-8E6F-16182AC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5F8FE-1CAB-4F14-BD24-214925F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47643-9134-46E2-89AE-F9A9CD37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5BBBD-7B3E-49E1-BDCE-5AFF074F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4D2E-F07F-4EBA-B099-7DC400E4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532A0-06CC-49EE-BE83-4E405169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71E50-4245-41A6-8B16-12F9700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EB399-9990-44D9-AA70-8C52EF09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AD948-8091-465A-8593-6D643F3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C9190-61BE-47C8-B1F4-5DF7D43C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4C84C-40D7-48F5-9701-53F2037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F37F-66B9-443B-AB0D-1AF1AD36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116BD-50DA-46D8-A1C0-F93B55C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F6DCB-9F07-4B15-B5EF-009F733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783BF-745A-4DF8-A8A0-EC406FE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2A7D6-F09D-4229-832C-08677E2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1FAEC3-7FA0-4086-9DEB-2321E52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00598-33D9-4856-A154-4233AE50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9A31E-CBBA-4C8A-86E3-E53FDFD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B88BA-875A-4074-96BE-0840E941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A2063-0B56-410E-807F-0EDCC408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E01BC-B541-46B0-A260-CADB12C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D081C-E503-49CA-B89B-F953AE28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implementation already spans UI, routing, tracing, and memory.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D3AB4-D58C-41F6-A7F3-21EEFE61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Next.js app routes, lib/orchestrator.ts, lib/gemini.ts, lib/memory.ts.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C3F7E-729B-4162-B212-1F0A0FCA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C15B5E-FB57-4314-A34B-B3B9B15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028700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05100D"/>
          </a:solidFill>
          <a:ln xmlns:a="http://schemas.openxmlformats.org/drawingml/2006/main" w="9525">
            <a:solidFill>
              <a:srgbClr val="1C35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62DEEC-B251-48A7-B8FB-2C56455C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7145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3D7D4-03DD-44CD-8AF8-2498013A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Next.js frontend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4AE950-24ED-4C44-B779-E317B273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landing, architecture, live demo, benchmark suite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C22A6E-E5E7-4B5C-B2FD-06C7A0CA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24100"/>
            <a:ext cx="17145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58EE1-0808-480D-849D-767F42A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574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API routes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6E410-D6B8-45F5-AD23-9D564F6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33675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/api/mission, /agents, /traces, /reset-demo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36D489-7BFC-4183-A32E-CA52E7D4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180975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A4CB4A-E4BA-4C9F-BEC0-34B3A944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Orchestrator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661FE6-8672-4B4C-BD67-476F2DBD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33675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task planning, bidding, selection, execution, reputation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6711B0-4F92-4914-8A83-6DD964D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24100"/>
            <a:ext cx="17145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A86CFF">
              <a:alpha val="6275"/>
            </a:srgbClr>
          </a:solidFill>
          <a:ln xmlns:a="http://schemas.openxmlformats.org/drawingml/2006/main" w="9525">
            <a:solidFill>
              <a:srgbClr val="A86CFF">
                <a:alpha val="40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3FE5F4-2B4A-46E8-8106-640D65FB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57450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Execution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4944B0-499D-4F7B-B2F8-378B8C5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33675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Gemini 2.5 Flash with deterministic fallback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7AA17C-DFC8-42E1-A321-05F88D04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7145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B020">
              <a:alpha val="6275"/>
            </a:srgbClr>
          </a:solidFill>
          <a:ln xmlns:a="http://schemas.openxmlformats.org/drawingml/2006/main" w="9525">
            <a:solidFill>
              <a:srgbClr val="FFB020">
                <a:alpha val="4000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A1AF78-96EF-43C8-9771-A21378E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90975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0153B8-0793-4F74-AE72-E1239198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672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quality, factuality, usefulness, specificity, actionability, collaboration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7E1165-7D68-42EC-B889-1124122F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57625"/>
            <a:ext cx="180975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A3FF">
              <a:alpha val="6275"/>
            </a:srgbClr>
          </a:solidFill>
          <a:ln xmlns:a="http://schemas.openxmlformats.org/drawingml/2006/main" w="9525">
            <a:solidFill>
              <a:srgbClr val="00A3FF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5795A5-DCA6-45A1-ACE6-0442103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90975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Trace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B564D0-230B-470C-924F-F7CFE6FA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1504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Weave integration plus local trace events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D14D7-188C-4E00-B57B-A77D4F48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1714500" cy="8191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0FF88">
              <a:alpha val="6275"/>
            </a:srgbClr>
          </a:solidFill>
          <a:ln xmlns:a="http://schemas.openxmlformats.org/drawingml/2006/main" w="9525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AC91A4-A31B-4125-A18E-E8FB40B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90975"/>
            <a:ext cx="1409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105A5F-B790-4F55-8A77-7AD8065C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2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Upstash Redis or in-memory state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016A0F-62C2-4EE6-9EA6-46D01614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40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AD80B6-6B89-48E3-AFC5-88CBB28D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40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1A53C5-05D0-4BCC-8DE1-D2389DA4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E3025B-E1E4-4EEC-B574-60D5284D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432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76DC1F-E5FA-481B-8342-09D8CDD5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576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4C6BB3-26CF-44BE-8FF3-8E0B00F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409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0BB83D-1ED5-4591-B761-E05ACD24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1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6C0B5E-73B7-445E-B5F6-A9C209F8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8715375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71411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56F6C4-312B-4DAA-8A3A-0C012DBA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95925"/>
            <a:ext cx="800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Key design choice: every production dependency has a fallback path, so the demo remains usable without secrets.</a:t>
            </a:r>
          </a:p>
        </p:txBody>
      </p:sp>
    </p:spTree>
    <p:extLst>
      <p:ext uri="{BB962C8B-B14F-4D97-AF65-F5344CB8AC3E}">
        <p14:creationId xmlns:p14="http://schemas.microsoft.com/office/powerpoint/2010/main" val="12333821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EECA2-91FB-4193-A25F-035F63C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6F253-AD2D-41A5-9FFF-B3334BD1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941A4-A35B-41E8-B78D-9CEA7831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2E320-2C4D-408A-9CE0-7C52AD4E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382BA-10E9-4658-B464-DB0BF6B4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D6A7B-336D-426B-891C-BF9B39A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69A63-F592-45FB-82AD-BD4C0D18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C76EA-99ED-4E83-B9DA-67EF2B8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88711-9F3F-4D05-BEDC-9D041E8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FA640-B774-40C8-B9DF-6575EAB8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C523A-44EE-4C4B-8E73-A2E1ED74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2E551-EC21-4B47-BFAA-7CF21A86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4097C-B527-4154-BF62-6DE72D9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8E242-7D0A-4F36-AD27-1A11C91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E71B7-0428-49B7-8F13-7A5E074B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CCE60-70BF-4BE3-A5E0-B82752F4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F4F62-CB27-4125-AEE7-955CF8B4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F1B92-D7BF-4A58-AF6C-A1572FE9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51803-4E23-4B6F-BA8B-FF6966D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05C2F-C8D2-4171-BBE4-C77915D2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FF50B-757A-46AA-8D39-77CFBFD0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D3635-DD27-4FC2-9B18-E4C9C088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6611A0-3634-4B17-89EF-C8F603DA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CFC46-3F72-41BC-ACA1-6A78CD85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E666A-7E5C-4BC2-8150-C0A4267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DE861-D6AA-4293-B816-C6A8D30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29F00-3AF3-4667-B68C-BA66E4E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ROUTING MATH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0D90E-7B0C-472D-899F-0CF8F43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MarketMaker routes with a score, not vibes.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F17A5-F109-4AE2-B3EA-D52123C1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src/lib/orchestrator.ts computeMarketMakerScore().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3E079B-4FC9-4E97-AE30-55F1D40B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30CD8-35AA-471A-80A1-94E0F3C6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5286375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045FC5-4015-4C7F-A241-CA31DE4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Score_i =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380D58-1E78-47DA-8A4A-4E1A63F6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4476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w_s Skill_i + w_r Reputation_i + w_u UCB_i + w_b Bid_i + w_e Elo_i + w_g GraphTrust_i - w_c Cost_i - w_l Latency_i - w_unc Uncertainty_i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93367-85C3-445E-A898-B7DEA8AA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The UI exposes the candidate list, component scores, and winner for each task.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B4B623-50F2-4C97-9C19-0B112B3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0957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8100E"/>
          </a:solidFill>
          <a:ln xmlns:a="http://schemas.openxmlformats.org/drawingml/2006/main" w="9525">
            <a:solidFill>
              <a:srgbClr val="243E3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8720A2-C7B8-487B-96A7-DC0F731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Implemented signal stack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0D7E2A-7829-4D63-93EC-224602C7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0.20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E7DBA9-E495-46F9-9DD3-C7B396D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Skill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CBF2E0-77E4-4F26-A1FE-4E85A38B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task fit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484FFC-BEB5-4B9E-8195-9B4EAE2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9080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1418F6-BBDD-4E42-927A-CB184466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0.18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3A690A-A284-4484-A1B6-F78686D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F0E67B-8499-4C90-877E-607504E5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Beta mean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B35FAA-2AED-478B-BA32-B212F43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62275"/>
            <a:ext cx="8915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82B4C9-F2E9-4EE7-BE68-DA6198BB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6CFF"/>
                </a:solidFill>
                <a:latin typeface="Helvetica"/>
                <a:ea typeface="Helvetica"/>
                <a:cs typeface="Helvetica"/>
              </a:defRPr>
            </a:pPr>
            <a:r>
              <a:t>0.16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BBE9E1-C879-42E8-8BB4-9049F74D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UCB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88ADF9-66CA-4748-BA67-926845F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explore/exploit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0F3E5B-3C65-4958-930C-51B42297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79248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C00983-F3B9-41ED-930C-E1782F7E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0522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0.14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153BA5-F5AA-4881-9CE7-2548C9D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Bid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56FF74-AF41-49AE-8CAD-E8CEEBE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utility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EEA631-CC51-4865-BAFA-EBCC78A4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05225"/>
            <a:ext cx="6934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9C4685-A18F-4E33-B46C-EDA386D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0.12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60AFA5-A486-4769-81BB-EF83C4F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58C35F-9D7C-4666-8F2E-3C0DB4DC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pairwise strength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CDEDA1-1AE6-41EE-A4BF-D130FEBC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59436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326DE4-CB09-4388-A0C2-DD13F41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48175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0.08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224C12-630A-4D8E-91B0-D9D59A54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GraphTrust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724E05-228F-49D9-8D82-72D386D1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collaboration hub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024B8B-9EB2-4DF8-BF85-5C5BCD6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48175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E60721-5E33-4A6A-9D80-AFA206EF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9650"/>
            <a:ext cx="514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-0.20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6FFA55-A695-44BB-9D5C-5C776347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52975"/>
            <a:ext cx="1619250" cy="161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Cost / latency / risk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AE3EF5B-6AF7-4896-817C-9D45CE47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1619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penalty terms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87EC36-D1F5-4372-94DE-4A9DBB22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454F0D-7CC1-4895-BDE7-113DE08C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3538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057AF1-87DC-451A-A9FE-5A8833C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007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Negative weights are explicit penalties, not hidden prompt preferences.</a:t>
            </a:r>
          </a:p>
        </p:txBody>
      </p:sp>
    </p:spTree>
    <p:extLst>
      <p:ext uri="{BB962C8B-B14F-4D97-AF65-F5344CB8AC3E}">
        <p14:creationId xmlns:p14="http://schemas.microsoft.com/office/powerpoint/2010/main" val="850359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EB5DA-E61F-4216-934D-C917729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DCB2F-E41B-4C54-A869-83F20808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82EAF-0E1B-46C8-82AA-AB13CD3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5F24A-FFC6-4F66-B767-1C95976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63CED-D7FF-42C3-9523-30894FF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1504C-4C9E-4610-A369-D6C082CC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7D318-3E21-47D3-AF46-A9E72856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E332-41DE-4C0C-83D4-E073F46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C9F7-2D9B-40E6-A3A5-FD811A4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E2481-AA54-4C3C-B144-05142FA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07ECC-5DB4-4275-859D-512F9A9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172C5-0FC3-4AF2-86D9-2725083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DB96A-9D1D-4680-8097-3EB96F4C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CCB0-6072-42CA-8F56-41EB6909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FF245-B31F-41AF-BD85-1E7ED0F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05D12-0D60-437A-A2EF-6F480A6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7F57B-11F9-487F-A29C-FF3E093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DF8C3-2C23-4157-8EDD-736EA32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0FB34-306C-476D-BB7E-91FD381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FA2C9-F773-4872-BB9D-1A902153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1B43B-EF6F-4469-ACD4-C07C44C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4D236-5256-4653-A84F-80287AE9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8C0A-C6FC-47F4-81B9-7B9183EC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E5259-516A-48D8-8249-1F122DC2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6922B-1D57-4AF7-B837-3E058CDA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F33693-E96F-4EFA-B081-08215B8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73E9B-A249-4C44-8D78-640381F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AGENT MARKET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1B639E-FA1F-4BAE-8662-46925289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Agents carry market state like real participants.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E5CEC-5AD1-422B-9F07-67C8B2B5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src/lib/agents.ts and src/lib/types.ts.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B0CBC-E5B7-430A-8CA8-4E97A978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1B5A54-A388-4EBE-BD3F-EB04EE90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762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Each agent is more than a role prompt: it has price, latency, factuality, collaboration, Beta trust, uncertainty, Elo, runs, wins, and losses.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C512E0-24FB-4C36-BC34-0080218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0096500" cy="302895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C35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D023BB-54B9-4984-AAC3-891337E7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42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78352E-D116-4A48-B308-DC789186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14650"/>
            <a:ext cx="180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role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9A50A6-4446-4D8F-BBAB-F5C17D17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46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rep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715E2-65FE-411B-91D8-4DACDBC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1465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market state fields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A319-EC98-4736-BB50-53A988F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113156-57D0-4980-956C-D967EA2C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Planner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23C97A-D95D-4BB1-8BB5-AF162D5A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decomposition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70B11C-C86B-45CF-B26F-2911BAA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88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3B1D94-C41C-492C-9C45-F8ED4D1D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86125"/>
            <a:ext cx="201168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ABA428-F082-47EC-8A68-232E1B7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BF0329-3FB0-4815-A7BB-F047B78F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DFDEA0-5687-4409-86AC-F4CE288B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Research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0F6F6C-20CF-46D6-81A9-C47EDAAD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76625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market analysis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23EA89-A3F9-4883-AC75-4A3BE02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7662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78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8E670A-DB4E-4BA2-8A9E-7A5381D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43300"/>
            <a:ext cx="178308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DE1281-8509-4BC0-A2D7-2E28BEDD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8C3F51-011A-4C0F-8A6E-7B86C54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EDCC3D-AC69-444F-8C83-7ABD0D98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SourceVerifier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456161-C13A-49BB-A172-8CE7B3A3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claim validation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0BACD4-B03D-4D6D-8F9A-6F43810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714015-08DC-489D-840A-37F8438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00475"/>
            <a:ext cx="20802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0FFAD4-CBAF-4D15-87F6-B574D76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422851-5D45-4FD1-B3F4-1E9C9DE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A613D1-7E9D-4652-A185-37C6FDF9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Builder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761B6C-4608-452B-A9E0-E4E25DC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90975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product synthesis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8C5310-F65B-4288-BDC3-CD558C2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909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80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EC759E-FC25-46DD-9690-566555F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57650"/>
            <a:ext cx="1828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B17572-69F8-4CCD-B7BF-8FD94CAB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909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75B7BA-A180-4A90-A088-1FCED142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89FCDD-16B6-4E61-B48C-0F66690E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Pitch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99B7A6-C2F6-4F58-84DE-B944E94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narrative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FB7A92-8DB2-4741-BE93-0024A94D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481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86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05A80B6-59FB-4D79-80C3-46D16EE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4825"/>
            <a:ext cx="196596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D3ED57-A345-4CBE-91E1-E9D6417A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FC530D-EC61-4358-BD24-9FB1F85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532417-2D13-4116-9D7A-DF3E83C4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Skeptic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DA887F-007D-4649-989A-A072768B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05325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risk analysis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C321B4-300C-4110-8755-D362AE5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0532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F8B6F8-F9AD-4535-8DD0-0EAB9AEC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72000"/>
            <a:ext cx="212598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DE5AC8-F6E9-4144-8E44-E4402CE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EE4892-C454-410A-A948-48B12275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3648FA-4B9A-482B-99D6-F192BA33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Evaluator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78E89E-37DE-4F49-A724-B0106AB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quality scoring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3754DB-BBCD-4513-9762-BC967131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625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90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4434CF-3433-448D-B8F0-3903B830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29175"/>
            <a:ext cx="2057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1CC455-4A9D-4C73-BC6B-F9BAFFB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B1F554-27AC-4CA1-AB2B-40FCA34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8F42419-0134-440F-9994-CE44CAB1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96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MarketMaker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ED8DB7-FAF9-4238-AAF1-1DC8F73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19675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routing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396E3-2937-447B-BAEF-BCE32061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196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86CFF"/>
                </a:solidFill>
                <a:latin typeface="Helvetica"/>
                <a:ea typeface="Helvetica"/>
                <a:cs typeface="Helvetica"/>
              </a:defRPr>
            </a:pPr>
            <a:r>
              <a:t>92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63956D-5B32-4D6D-AEEB-66193EB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86350"/>
            <a:ext cx="210312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4645670-AF23-4277-8EA3-2D18F20D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96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444CBA7-0E26-406A-8CA2-126416B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CC4CC3-6F58-48F0-A2D5-2177464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Reputation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EED4680-7D7A-4F64-AB44-E1D20AF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768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memory update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85ACB5-E02A-4096-8888-FFDC847F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89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96C5D6-BB4F-430D-8FD9-F0A584C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20345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3162E1-72D5-47E1-8709-F33D18D3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alpha/beta  |  Elo  |  UCB  |  uncertainty  |  graph trust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00E6D0E-E18B-4822-B3C3-E0CFEC75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10096500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C1714"/>
          </a:solidFill>
          <a:ln xmlns:a="http://schemas.openxmlformats.org/drawingml/2006/main" w="9525">
            <a:solidFill>
              <a:srgbClr val="00A3FF">
                <a:alpha val="26667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2E3B94-A4A4-405F-A7D4-12A33BB2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Routing becomes inspectable because every selected agent has a history, a price, a risk profile, and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3071141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C5005-2D1C-47E1-A587-FBF993AE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62121-30C3-42F6-BEFF-4604085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EF1F4-1FD2-40EF-8B86-9821604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2A00D-FAD2-44A5-9F45-5659C8F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FC041-932B-4DD1-BF7D-1D11AD1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AA5EA-4F8D-4E7D-A987-9CFC0B24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B8F40-5272-4101-BF74-DA9A7DA6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5F763-F58A-41DC-A87E-A31B56D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FB792-B556-44DE-9C98-26E003F0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9417E-DE30-4DD1-9698-377A6AF4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A7D95-5787-407B-A4F1-8A0D1FC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8F9D9-3DA1-4998-86DA-773E6DA0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C2AED-F22A-4694-8A56-487A550A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7D738-8CA8-4D19-8C99-3F23093E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B95EF-F572-48DB-8D93-ED424394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B1FCB-A99B-4783-9A6A-305699AA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5577C-A464-4370-A370-0E462D88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EC27C-3AD2-455D-99C5-59822905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8DD3A-AC02-4914-A2B7-C08D2DE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EB98A-5DD6-48D4-89A1-58A0DF98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76115-4024-4A76-B64A-F50442A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EF65A7-92FE-45D8-B996-36A1CE14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CC1DF-1992-466D-A33C-4CF80DA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4E897-7EBA-4B59-8697-84D23DA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1AFC1-1EF6-4117-AA46-E1EAFEC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E9AFA-6623-4428-BB62-8501F75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E5ECE-D787-4D81-9909-4C96544E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DEMO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C21CA-8EEA-4D2F-85EF-346BB26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demo shows learning, regression detection, and recovery.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6735F-C8FA-47E6-9E80-99830A1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internal demo values from src/lib/orchestrator.ts and /api/mission fallback.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5225E3-B4C4-48E0-8E8A-059BCC7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741C1-E3DD-4CB0-8B33-92EA52F3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809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This is not an external benchmark. It is the product proof loop: evaluation changes memory, and memory changes routing.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39444-6BC4-4DC1-957C-29E64F9A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7239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1D36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CE34C-D4D8-48E9-AED5-B7EA207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3035"/>
            <a:ext cx="6381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AAFE14-316F-4780-AC4A-F21DD74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" y="2381250"/>
            <a:ext cx="1143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F1FAE-E5CD-40B0-838D-2998F03B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511868"/>
            <a:ext cx="704850" cy="1726883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4D5E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8DC46-E750-4998-85A6-77F07206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511868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36D57B-17A9-4350-B159-2D44758E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88018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74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ADD604-6AD2-41E7-9BAC-0EB443C4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102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EB4F77-DDEA-4F87-9FA4-5F7A77D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102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failure detected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2944F8-C386-4520-BEFA-1738D0E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5151"/>
            <a:ext cx="704850" cy="2123599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D21433-21BC-41F1-A6B7-184A87D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5151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41142E-4685-42D6-ADE5-9009F32B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91301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91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9B4E98-7158-4E33-8452-6653D5FB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102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6B545-7DEB-437F-BB64-B0F60B0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102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market learned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CF1BD4-9AA4-4523-BE0D-40745322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5169"/>
            <a:ext cx="704850" cy="1983581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DF7EAA-EF00-4A59-9D50-735A475F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55169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138FFB-8338-4268-AE13-D7F0C55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31319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85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860C76-F995-48DE-BFB0-B8867900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102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0FBECF-0E5F-46CC-A50F-9D1B508F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6102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over-rotation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64DAD3-48D0-407D-B58C-12FC18E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8470"/>
            <a:ext cx="704850" cy="224028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0B9838-D307-4CC8-83A6-01C2062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847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F943F2-9868-4B27-9EDE-50DBD43E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462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96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81A314-1081-43A6-8806-1C65472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10200"/>
            <a:ext cx="781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623BF-3A0D-4207-A172-083C1EC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10225"/>
            <a:ext cx="1381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calibrated recovery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FF1BB6-F801-4BA4-BCC1-03B0A5D2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overall score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B4A4F8-E22D-4175-A516-9955BE9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667000" cy="24765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FC318E-A27F-409F-B10C-12391A83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What the arc proves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8D97B3-9047-4235-8F3D-1073618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2000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2 promotes SourceVerifierAgent after a factuality failure.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B3546A-6A28-4E4C-9CAC-FFEB39E9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57625"/>
            <a:ext cx="2076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3 exposes over-optimization: skepticism hurts narrative quality.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3B6A56-3478-4DC5-A51E-425BCA1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2076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Run 4 rebalances the swarm and reaches the best internal score.</a:t>
            </a:r>
          </a:p>
        </p:txBody>
      </p:sp>
    </p:spTree>
    <p:extLst>
      <p:ext uri="{BB962C8B-B14F-4D97-AF65-F5344CB8AC3E}">
        <p14:creationId xmlns:p14="http://schemas.microsoft.com/office/powerpoint/2010/main" val="535038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E8C68-077E-4CCB-977B-8D089901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A80D0-94DC-4F40-8A3D-A1BD8E92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F7823-3185-4CE9-9937-FDB0CC9E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3B973-F0B5-4805-B471-22501B88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E08F7-2849-4F41-8F9D-139A0E69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D5C4-2D7B-4B38-BEBA-BE2C48F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EB138-E46E-4482-81F6-F6068C1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BAF4D-C56E-4BFA-A01C-08A22B20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E852D-8196-4664-88C8-F09CA09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4864B-1B38-44CB-B08B-890184EF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75F9E-CBF1-460A-B858-CC7E6DF4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1F86F-6194-424A-B288-8AE84FEE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71805-22D8-4563-B5D3-8E1F86A3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7296E-CB24-4C0C-820A-4131A75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D93EA-008A-4ABB-9C4A-D6EF047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B719E-A388-423D-B3C5-81B21882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56361-D3A7-4DB9-990C-A5866A8E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48846-B511-45C8-838F-957D0964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1F2FC-27CC-4D1A-8897-B8FAF4A7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3C62A-CD92-46AD-B71D-DE875487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38BD1-4F33-4D50-B7EC-03A86B64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7B0E9-CDFB-4CC1-8058-3834C990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84ED2-3EBA-4AB8-972E-86DB1A46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6818D-CE01-46B1-8D1A-4275F44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ECF6E-7F69-4BCA-B920-5BF9E08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7E254-3DF6-47C4-8F87-6D244E37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320C0-67B5-409B-BFE1-94E5816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PRODUCT SURFACE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ED0A1-53A6-4972-8E8D-E21BBC7D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dashboard makes the market inspectable.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67E04-33FC-4CE5-B90B-4B65BC71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src/app/demo/page.tsx.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D6678D-DD8C-45B6-81A7-107D0C3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7797B2-2448-4F8F-8614-DEB94906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9858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50908"/>
          </a:solidFill>
          <a:ln xmlns:a="http://schemas.openxmlformats.org/drawingml/2006/main" w="9525">
            <a:solidFill>
              <a:srgbClr val="183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C6A6BA-B526-4140-BE92-675B147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81411"/>
          </a:solidFill>
          <a:ln xmlns:a="http://schemas.openxmlformats.org/drawingml/2006/main" w="9525">
            <a:solidFill>
              <a:srgbClr val="00FF88">
                <a:alpha val="2666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F1070-F38B-4CA6-950C-393770AB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71725"/>
            <a:ext cx="5238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Mission: build a launch plan for an AI product...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55C904-D8D9-41D2-91D0-F285DF56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38125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A3FF">
                <a:alpha val="26667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D4BCB-DFB5-4564-9576-948DE96C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52675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Run 4 / 96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41BEB-DFBA-419A-BA19-080609D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381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9A6E4-13B3-4630-B0A9-C9DF0C2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Agent registry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18B733-D72C-4A8A-91BC-928F6B3C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3812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2DE757-C2DC-41BE-91F1-4C003774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19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MarketMaker log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166BA0-E2B5-410B-B160-419E0B74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3943350" cy="23336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07110F"/>
          </a:solidFill>
          <a:ln xmlns:a="http://schemas.openxmlformats.org/drawingml/2006/main" w="9525">
            <a:solidFill>
              <a:srgbClr val="263D3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675A95-9982-4569-8031-E3FEA70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Trace + contribution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D45555-AD55-46BA-9664-34C992FE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319087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Weave calls, token totals, latency, evaluation scores, Shapley-style contribution ledger, trust graph, and reputation deltas all render in one workflow.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70B61D-5CF8-4ABD-B1AB-8E37FC19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DFD73D-11A1-4736-AF2D-E9A6ED9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FF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C8D61C-2991-4005-987B-0CB93C7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767A7E-8FC4-4A80-A18B-C9B2659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user can see why the swarm changed.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4D8C8A-804D-4AD4-8366-55DA11D4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Skeptic 93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81B98A-9B8F-4345-9E3F-BCD6DBED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29025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E98314-7878-42A1-B6A7-40A0E5D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SourceVerifier 91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D9E734-805E-47F0-8FB1-7569C6D5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33825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AE23E0-1747-4FBE-A03D-AA6D25AD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MarketMaker 92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BE7FBE-1186-4AD5-9373-81E0B435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38625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405549-4799-4890-AAB7-C55AA1D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Pitch 86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3EF705-C6C8-4244-9046-E01FA5C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43425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9B0D8F-97DD-4123-9317-C97E6D4E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1381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4D5E"/>
                </a:solidFill>
                <a:latin typeface="Helvetica"/>
                <a:ea typeface="Helvetica"/>
                <a:cs typeface="Helvetica"/>
              </a:defRPr>
            </a:pPr>
            <a:r>
              <a:t>Research 78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6B58E1-16EF-40F5-9B52-DC75E77F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482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3A7055-FED1-46D8-BE59-B2D6651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90925"/>
            <a:ext cx="1762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market_research -&gt; verifier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F89775-6B1D-49FB-B919-4117C75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24288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B7E4E7-84FF-4E8B-B020-BE44827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62400"/>
            <a:ext cx="1762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pitch_script -&gt; pitch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46BAC9-0340-43DC-9BC5-A6D79E06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95763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FA856D-8532-40CC-84B9-A45817C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33875"/>
            <a:ext cx="1762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risk_review -&gt; skeptic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CE13E6-61EF-4C52-850B-10E9CB23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67238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BFE209-53C5-43DD-8A63-CE4CB17E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1762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final_eval -&gt; evaluator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C86B85-A9C6-4410-90F4-2A3FA34C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8713"/>
            <a:ext cx="182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81261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154267-A46D-4511-AB14-36ED08CE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92E3A-FC59-491F-AAD2-61A3C610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3514C-7355-4955-98BD-783F8DF0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968FE-310F-4182-8404-D2E85F07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0E0BA-C65A-4A67-9E2A-1A885D71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BB6EB-CAB4-4FC3-A9FE-75D75E28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48842-CEC3-41A9-A75B-FABD4EA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B3738-9750-44CC-BA1E-F78B55DC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43A7A-B564-42A8-8664-C292C66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58D63-224C-4204-BBCC-F5DCE41A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F18A5-3555-44E9-80B7-D0259171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64144-7BA8-4656-B155-352FB721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61295-BB77-41B6-892F-7F0F947E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EC3CD-8600-42A6-A220-16F846B2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8E37A-5163-46D4-95E0-F6C147BE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A4B31-1555-4348-8EB5-1DEE6D8A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F0092-97B5-479C-95BC-9413C56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FD9B1-419D-439D-9862-2AB5F5D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AEF6A-C2CB-40C0-AADB-BE82DB8A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DFE20-79D4-429A-89EE-6450530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9911B-D08C-4DEB-9138-A3DC2EBA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A482D-2913-4DAF-A5F3-C6D160EC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4CB55-752B-4901-AD88-EBA07156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B0F2A-CF4F-4407-8DB7-F14D1A6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BC0D3-C049-4387-9EFE-C7E8AE5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D7EF7-DA2A-4BEA-A939-DBC89CA2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57C96-A360-4CFB-B31D-A1FBE84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4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WEDGE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81B14-3F18-4F94-B1FF-42D826D3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7239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The wedge is trust infrastructure for the agent economy.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DC637C-BBA3-41B8-B9AB-A14E1AE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Source: project README, paper limitations, and implemented roadmap surface.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12211-F232-4F8D-9813-4F40AD3B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A539D4-9F81-4549-9758-E779ADA4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667000" cy="26670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00D05"/>
          </a:solidFill>
          <a:ln xmlns:a="http://schemas.openxmlformats.org/drawingml/2006/main" w="9525">
            <a:solidFill>
              <a:srgbClr val="FFB020">
                <a:alpha val="33333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86EB1-440D-4042-AF85-E1F4EB6F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Why now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ECCC4-D336-4FFA-BBD6-23E700CB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Agent supply is exploding, but buyers still lack transparent performance, routing, and failure memory.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ED319-0470-4B2E-9655-DDB928C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667000" cy="26670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95F9B-9AC0-4D17-BE88-CE5BF11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Why this wins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C39550-8C47-4D04-8254-CA07C5B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SwarmDAQ turns each run into market evidence: bids, traces, evals, reputation deltas, and collaboration memory.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E99088-8282-4455-9376-E8F651E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667000" cy="26670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8E42E0-3920-4945-AF52-A6B5328A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What expands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84CC6F-E54B-4049-A27D-603CB3AD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External benchmarks, larger agent catalogs, real budgets, policy constraints, and audited production traces.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17FF0B-3F37-4319-B0B3-B9F2BF86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19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A47310-2633-44A5-9868-6A1C1CAC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953D93-BB3E-42B9-B87F-973946A1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9525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1714"/>
          </a:solidFill>
          <a:ln xmlns:a="http://schemas.openxmlformats.org/drawingml/2006/main" w="9525">
            <a:solidFill>
              <a:srgbClr val="00FF88">
                <a:alpha val="24706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95288-14E5-4A83-8473-A84AEBF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95925"/>
            <a:ext cx="876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Positioning: not a chatbot, not a generic agent framework - the exchange layer that decides which agents are worth hiring.</a:t>
            </a:r>
          </a:p>
        </p:txBody>
      </p:sp>
    </p:spTree>
    <p:extLst>
      <p:ext uri="{BB962C8B-B14F-4D97-AF65-F5344CB8AC3E}">
        <p14:creationId xmlns:p14="http://schemas.microsoft.com/office/powerpoint/2010/main" val="9507311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507EB-F7FB-49D8-90F8-4F39BF9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7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C19F6-0020-453A-B468-9F57E9AA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705"/>
              </a:gs>
              <a:gs pos="58000">
                <a:srgbClr val="07120F"/>
              </a:gs>
              <a:gs pos="100000">
                <a:srgbClr val="07100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E5E12-F99D-49B3-BBF9-059804B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B4877-6785-4E8B-85F7-5660665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30675-DE73-4073-83FC-BD437EAB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E6EB-EFA8-4505-BA3C-46ABC81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78261-47DA-43AE-8ACB-D117FC74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24CC1-CC6B-44AB-AA40-CE24749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FDDFB-DEC4-4E20-8DFB-C5C6137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8B059-EF69-4DEC-B725-355D030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49909-AB4A-463A-B113-43724BF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C85DE-F978-47BB-9493-85B5BF89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F37AB-3C39-4583-8887-1481AE2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034D2-DEAD-4734-B1EC-BB9B9A4B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D2E47-8B75-4D3B-9038-A64E8091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62247-CE81-4EDC-9E69-545CE391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D5F12-602F-4D9D-9640-C4E925A3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7143" y="0"/>
            <a:ext cx="571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C6F03-A7B2-4ED4-98EC-37EE0A93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6578D-092E-41D9-8E43-2BE1A6C7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9ECE4-679B-49D6-AF3B-D657E7C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0E7B9-152C-4B07-B648-7490EF3E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5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3B4FE-8495-4EED-AFD8-958D892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7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90338-1573-4215-B590-FD52A0B8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69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00555-78B9-426C-A718-76A21BC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1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A2D02-91ED-4F96-BA93-B8BA9F2A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3143"/>
            <a:ext cx="121920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21440-B954-469E-AC65-1DB524E2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SWARMDAQ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278A2-61F2-49BD-89AA-D11B7E88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Assets: GitHub repo, live demo, LaTeX paper, generated PPTX deck.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4864B-CFDC-442E-922C-F282E7E5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87068"/>
                </a:solidFill>
                <a:latin typeface="Helvetica"/>
                <a:ea typeface="Helvetica"/>
                <a:cs typeface="Helvetica"/>
              </a:defRPr>
            </a:pPr>
            <a: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E6329-FCD3-4C72-B982-2AE7DD2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7250"/>
            <a:ext cx="876300" cy="285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FF88">
              <a:alpha val="7843"/>
            </a:srgbClr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2EC6C-E431-4A37-8E89-03F331C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7E89A8-3181-4A5D-A1C6-D593E93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49D8A-6BCD-49F8-9FDC-12171A1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001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Make agent routing auditable.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8ED858-E729-4D95-AEFA-C53A0641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685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Every agent gets a market price, performance history, trace, and reason to improve.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6DA50-CE15-4B27-B263-A25873BB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19375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06110E"/>
          </a:solidFill>
          <a:ln xmlns:a="http://schemas.openxmlformats.org/drawingml/2006/main" w="9525">
            <a:solidFill>
              <a:srgbClr val="00FF88">
                <a:alpha val="33333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0FD64E-868C-4BD8-BACF-9A745788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FF88"/>
                </a:solidFill>
                <a:latin typeface="Helvetica"/>
                <a:ea typeface="Helvetica"/>
                <a:cs typeface="Helvetica"/>
              </a:defRPr>
            </a:pPr>
            <a:r>
              <a:t>Live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073890-3270-4406-94EE-6A0FB010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swarmdaq.vercel.app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5F7079-A97E-460D-A50E-B908C01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619375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00A3FF">
                <a:alpha val="33333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BD846C-442D-4FEA-852D-10618EC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A3FF"/>
                </a:solidFill>
                <a:latin typeface="Helvetica"/>
                <a:ea typeface="Helvetica"/>
                <a:cs typeface="Helvetica"/>
              </a:defRPr>
            </a:pPr>
            <a:r>
              <a:t>Repository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E8190A-2A7A-4341-A691-B884259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43400"/>
            <a:ext cx="1952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github.com/VolodymyrLinuxovich/swarmdaq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913A20-E974-4709-AB9D-837B8CD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2619375" cy="1123950"/>
          </a:xfrm>
          <a:prstGeom xmlns:a="http://schemas.openxmlformats.org/drawingml/2006/main" prst="roundRect">
            <a:avLst>
              <a:gd name="adj" fmla="val 4237"/>
            </a:avLst>
          </a:prstGeom>
          <a:solidFill xmlns:a="http://schemas.openxmlformats.org/drawingml/2006/main">
            <a:srgbClr val="100D05"/>
          </a:solidFill>
          <a:ln xmlns:a="http://schemas.openxmlformats.org/drawingml/2006/main" w="9525">
            <a:solidFill>
              <a:srgbClr val="FFB020">
                <a:alpha val="3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9D7AE-B03A-4820-B4B6-E020FC2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B020"/>
                </a:solidFill>
                <a:latin typeface="Helvetica"/>
                <a:ea typeface="Helvetica"/>
                <a:cs typeface="Helvetica"/>
              </a:defRPr>
            </a:pPr>
            <a:r>
              <a:t>Scientific paper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7B3DEF-BD1F-49B2-9521-BFFFF07F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FE7"/>
                </a:solidFill>
                <a:latin typeface="Helvetica"/>
                <a:ea typeface="Helvetica"/>
                <a:cs typeface="Helvetica"/>
              </a:defRPr>
            </a:pPr>
            <a:r>
              <a:t>paper/main.tex + Actions PDF artifact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C91E4A-12B4-4977-9E66-9E3C8EF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3988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ACD256-9322-41BC-AA6A-8455832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89A39A"/>
                </a:solidFill>
                <a:latin typeface="Helvetica"/>
                <a:ea typeface="Helvetica"/>
                <a:cs typeface="Helvetica"/>
              </a:defRPr>
            </a:pPr>
            <a:r>
              <a:t>Next milestones: external benchmark suite, richer agent catalog, budget-aware clearing, adversarial bid tests, production trace corpus.</a:t>
            </a:r>
          </a:p>
        </p:txBody>
      </p:sp>
    </p:spTree>
    <p:extLst>
      <p:ext uri="{BB962C8B-B14F-4D97-AF65-F5344CB8AC3E}">
        <p14:creationId xmlns:p14="http://schemas.microsoft.com/office/powerpoint/2010/main" val="1161736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2026-06-06T18:50:39.7780000Z</dcterms:created>
  <dcterms:modified xsi:type="dcterms:W3CDTF">2026-06-06T18:50:39.7780000Z</dcterms:modified>
</coreProperties>
</file>