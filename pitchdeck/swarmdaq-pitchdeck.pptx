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3724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100" b="1">
                <a:solidFill>
                  <a:srgbClr val="00D97A"/>
                </a:solidFill>
                <a:latin typeface="Arial"/>
              </a:defRPr>
            </a:pPr>
            <a:r>
              <a:t>LIVE TECHNICAL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7315200" cy="10614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4200" b="1">
                <a:solidFill>
                  <a:srgbClr val="00D97A"/>
                </a:solidFill>
                <a:latin typeface="Arial"/>
              </a:defRPr>
            </a:pPr>
            <a:r>
              <a:t>SwarmDAQ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7315200" cy="6169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DCEBE6"/>
                </a:solidFill>
                <a:latin typeface="Arial"/>
              </a:defRPr>
            </a:pPr>
            <a:r>
              <a:t>The performance exchange for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315200" cy="82296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829B91"/>
                </a:solidFill>
                <a:latin typeface="Arial"/>
              </a:defRPr>
            </a:pPr>
            <a:r>
              <a:t>Agents bid on tasks. A MarketMaker routes with math. Every run is traced, evaluated, and stored — so the next swarm improves.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434840"/>
            <a:ext cx="3383280" cy="1417320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617720"/>
            <a:ext cx="2926080" cy="8836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3400" b="1">
                <a:solidFill>
                  <a:srgbClr val="00D97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66360"/>
            <a:ext cx="2926080" cy="54864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829B91"/>
                </a:solidFill>
                <a:latin typeface="Arial"/>
              </a:defRPr>
            </a:pPr>
            <a:r>
              <a:t>specialized agents</a:t>
            </a:r>
            <a:br/>
            <a:r>
              <a:t>with persistent 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4434840"/>
            <a:ext cx="3383280" cy="1417320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617720"/>
            <a:ext cx="2926080" cy="8836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3400" b="1">
                <a:solidFill>
                  <a:srgbClr val="3B9EFF"/>
                </a:solidFill>
                <a:latin typeface="Arial"/>
              </a:defRPr>
            </a:pPr>
            <a:r>
              <a:t>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166360"/>
            <a:ext cx="2926080" cy="54864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829B91"/>
                </a:solidFill>
                <a:latin typeface="Arial"/>
              </a:defRPr>
            </a:pPr>
            <a:r>
              <a:t>routing signals beyond</a:t>
            </a:r>
            <a:br/>
            <a:r>
              <a:t>prompt selection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4434840"/>
            <a:ext cx="3383280" cy="1417320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617720"/>
            <a:ext cx="2926080" cy="8836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3400" b="1">
                <a:solidFill>
                  <a:srgbClr val="FFB02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166360"/>
            <a:ext cx="2926080" cy="54864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829B91"/>
                </a:solidFill>
                <a:latin typeface="Arial"/>
              </a:defRPr>
            </a:pPr>
            <a:r>
              <a:t>run demo proving</a:t>
            </a:r>
            <a:br/>
            <a:r>
              <a:t>the feedback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SwarmDAQ repo, paper, and live demo.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Agent teams fail when trust is invisible.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27048"/>
            <a:ext cx="10728655" cy="464058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5000"/>
              </a:lnSpc>
              <a:defRPr sz="1400" b="0">
                <a:solidFill>
                  <a:srgbClr val="829B91"/>
                </a:solidFill>
                <a:latin typeface="Arial"/>
              </a:defRPr>
            </a:pPr>
            <a:r>
              <a:t>Most orchestration behaves like a prompt chain — assign work, hope for the best, lose the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943600" cy="1782622"/>
          </a:xfrm>
          <a:prstGeom prst="rect">
            <a:avLst/>
          </a:prstGeom>
          <a:noFill/>
        </p:spPr>
        <p:txBody>
          <a:bodyPr wrap="square" lIns="101600" rIns="101600" tIns="76200" bIns="76200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Static routing with no performance memory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Weak outputs go undetected — unsupported claims, bad fit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Same agent gets reused even after failure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No answer to: who performed, who hallucinated, who to trust next?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572000"/>
            <a:ext cx="5943600" cy="1634743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557784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The missing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10912"/>
            <a:ext cx="5577840" cy="839215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A transparent exchange where agents earn or lose trust from actual performance — not static role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4572000"/>
            <a:ext cx="4434840" cy="1634743"/>
          </a:xfrm>
          <a:prstGeom prst="rect">
            <a:avLst/>
          </a:prstGeom>
          <a:solidFill>
            <a:srgbClr val="18221E"/>
          </a:solidFill>
          <a:ln w="12700">
            <a:solidFill>
              <a:srgbClr val="FF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4709160"/>
            <a:ext cx="406908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FF5A64"/>
                </a:solidFill>
                <a:latin typeface="Arial"/>
              </a:defRPr>
            </a:pPr>
            <a:r>
              <a:t>Demo failure (Run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5010912"/>
            <a:ext cx="4069080" cy="839215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Unsupported claim detected. ResearchAgent penalized. SourceVerifierAgent promoted.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README problem framing.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The product is a market loop, not another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27048"/>
            <a:ext cx="10728655" cy="464058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5000"/>
              </a:lnSpc>
              <a:defRPr sz="1400" b="0">
                <a:solidFill>
                  <a:srgbClr val="829B91"/>
                </a:solidFill>
                <a:latin typeface="Arial"/>
              </a:defRPr>
            </a:pPr>
            <a:r>
              <a:t>Bid → select → execute → trace → evaluate → update.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6217920" cy="2454706"/>
          </a:xfrm>
          <a:prstGeom prst="rect">
            <a:avLst/>
          </a:prstGeom>
          <a:noFill/>
        </p:spPr>
        <p:txBody>
          <a:bodyPr wrap="square" lIns="101600" rIns="101600" tIns="76200" bIns="76200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Mission — user intent enters the system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Task graph — PlannerAgent decomposes work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Agent bids — confidence, cost, latency, utility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MarketMaker — weighted selection picks the swarm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Execution — Gemini or deterministic fallback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Evaluation — six quality dimensions scored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400">
                <a:solidFill>
                  <a:srgbClr val="DCEBE6"/>
                </a:solidFill>
                <a:latin typeface="Arial"/>
              </a:defRPr>
            </a:pPr>
            <a:r>
              <a:t>• Memory — Beta, Elo, graph trust stored in Redis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2029968"/>
            <a:ext cx="4160520" cy="2729991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0" y="2167128"/>
            <a:ext cx="379476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After every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2468880"/>
            <a:ext cx="3794760" cy="1934463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400" b="0">
                <a:solidFill>
                  <a:srgbClr val="DCEBE6"/>
                </a:solidFill>
                <a:latin typeface="Arial"/>
              </a:defRPr>
            </a:pPr>
            <a:r>
              <a:t>Reputation updates.</a:t>
            </a:r>
            <a:br/>
            <a:r>
              <a:t>Uncertainty tracked.</a:t>
            </a:r>
            <a:br/>
            <a:r>
              <a:t>Elo ratings shift.</a:t>
            </a:r>
            <a:br/>
            <a:r>
              <a:t>Collaboration graph grows.</a:t>
            </a:r>
            <a:br/>
            <a:r>
              <a:t>Mission replay saved.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orchestrator.ts, memory.ts, trace.ts.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End-to-end: UI, routing, tracing, and memory.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35608"/>
            <a:ext cx="10728655" cy="51206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27048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527048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Next.js — landing, demo, leaderboard, benchmark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47672"/>
            <a:ext cx="10728655" cy="512064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39112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39112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/api/mission, /agents, /traces, /history, /market-feed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59736"/>
            <a:ext cx="10728655" cy="51206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551176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551176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Planning, bidding, selection, execution, reputation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10728655" cy="512064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063240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063240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Gemini 2.5 Flash + deterministic fallback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483864"/>
            <a:ext cx="10728655" cy="51206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575304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Evaluator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575304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Quality, factuality, usefulness, actionability, collaboration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995928"/>
            <a:ext cx="10728655" cy="512064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087368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Tracing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087368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W&amp;B Weave + local trace event fallback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07992"/>
            <a:ext cx="10728655" cy="51206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599432"/>
            <a:ext cx="16459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00D97A"/>
                </a:solidFill>
                <a:latin typeface="Arial"/>
              </a:defRPr>
            </a:pPr>
            <a:r>
              <a:t>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4599432"/>
            <a:ext cx="8625535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Upstash Redis or in-memory reputation 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202936"/>
            <a:ext cx="10728655" cy="1311148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40096"/>
            <a:ext cx="10362895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Key design 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641848"/>
            <a:ext cx="10362895" cy="5156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Every production dependency has a fallback path — the demo works without API keys.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Next.js app routes and lib/.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ROUTING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MarketMaker routes with a score, not vibes.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35608"/>
            <a:ext cx="5669280" cy="1508760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303520" cy="483615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600" b="1">
                <a:solidFill>
                  <a:srgbClr val="00D97A"/>
                </a:solidFill>
                <a:latin typeface="Arial"/>
              </a:defRPr>
            </a:pPr>
            <a:r>
              <a:t>finalScore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5303520" cy="100584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0.20·skill + 0.18·reputation + 0.16·UCB + 0.14·bid</a:t>
            </a:r>
            <a:br/>
            <a:r>
              <a:t>+ 0.12·Elo + 0.08·graphTrust + 0.07·collaboration</a:t>
            </a:r>
            <a:br/>
            <a:r>
              <a:t>+ 0.05·factuality − 0.05·cost − 0.05·latency − 0.10·uncertainty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435608"/>
            <a:ext cx="4617720" cy="42062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5270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00D97A"/>
                </a:solidFill>
                <a:latin typeface="Arial"/>
              </a:defRPr>
            </a:pPr>
            <a:r>
              <a:t>+0.20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5270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Skill match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892808"/>
            <a:ext cx="4617720" cy="420624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842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00D97A"/>
                </a:solidFill>
                <a:latin typeface="Arial"/>
              </a:defRPr>
            </a:pPr>
            <a:r>
              <a:t>+0.18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9842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Bayesian reputation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2350008"/>
            <a:ext cx="4617720" cy="42062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24414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00D97A"/>
                </a:solidFill>
                <a:latin typeface="Arial"/>
              </a:defRPr>
            </a:pPr>
            <a:r>
              <a:t>+0.16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4414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UCB1 exploration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807208"/>
            <a:ext cx="4617720" cy="420624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28986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00D97A"/>
                </a:solidFill>
                <a:latin typeface="Arial"/>
              </a:defRPr>
            </a:pPr>
            <a:r>
              <a:t>+0.14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8986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Bid utility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264408"/>
            <a:ext cx="4617720" cy="42062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33558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00D97A"/>
                </a:solidFill>
                <a:latin typeface="Arial"/>
              </a:defRPr>
            </a:pPr>
            <a:r>
              <a:t>+0.12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3558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Elo rating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721608"/>
            <a:ext cx="4617720" cy="420624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38130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00D97A"/>
                </a:solidFill>
                <a:latin typeface="Arial"/>
              </a:defRPr>
            </a:pPr>
            <a:r>
              <a:t>+0.08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8130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Graph trust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4178808"/>
            <a:ext cx="4617720" cy="420624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4270248"/>
            <a:ext cx="6400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FF5A64"/>
                </a:solidFill>
                <a:latin typeface="Arial"/>
              </a:defRPr>
            </a:pPr>
            <a:r>
              <a:t>−0.20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270248"/>
            <a:ext cx="3474720" cy="4169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Cost, latency, uncertainty penalties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computeMarketMakerScore() in orchestrator.ts.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AGENT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Agents carry market state like real participants.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27048"/>
            <a:ext cx="10728655" cy="464058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5000"/>
              </a:lnSpc>
              <a:defRPr sz="1400" b="0">
                <a:solidFill>
                  <a:srgbClr val="829B91"/>
                </a:solidFill>
                <a:latin typeface="Arial"/>
              </a:defRPr>
            </a:pPr>
            <a:r>
              <a:t>Price, latency, factuality, Beta trust, Elo, runs, wins, losses.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29968"/>
            <a:ext cx="10728655" cy="384048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743200" cy="3724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100" b="1">
                <a:solidFill>
                  <a:srgbClr val="5A7369"/>
                </a:solidFill>
                <a:latin typeface="Arial"/>
              </a:defRPr>
            </a:pPr>
            <a: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3657600" cy="3724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100" b="1">
                <a:solidFill>
                  <a:srgbClr val="5A7369"/>
                </a:solidFill>
                <a:latin typeface="Arial"/>
              </a:defRPr>
            </a:pPr>
            <a:r>
              <a:t>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14016"/>
            <a:ext cx="10728655" cy="384048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PlannerAgent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487168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Mission decomposition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798064"/>
            <a:ext cx="10728655" cy="384048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71216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ResearchAgent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871216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Market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182112"/>
            <a:ext cx="10728655" cy="384048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55264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SourceVerifierAgent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55264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Claim validation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66160"/>
            <a:ext cx="10728655" cy="384048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639312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BuilderAgent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639312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Product synthesis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950208"/>
            <a:ext cx="10728655" cy="384048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23360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PitchAgent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023360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Narrative and 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334256"/>
            <a:ext cx="10728655" cy="384048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407408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SkepticAgent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407408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Risk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718304"/>
            <a:ext cx="10728655" cy="384048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791456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EvaluatorAgent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91456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Quality scoring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102352"/>
            <a:ext cx="10728655" cy="384048"/>
          </a:xfrm>
          <a:prstGeom prst="rect">
            <a:avLst/>
          </a:prstGeom>
          <a:solidFill>
            <a:srgbClr val="18221E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175504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MarketMakerAgent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175504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Routing and auctions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486400"/>
            <a:ext cx="10728655" cy="384048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559552"/>
            <a:ext cx="27432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ReputationAgent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5559552"/>
            <a:ext cx="548640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29B91"/>
                </a:solidFill>
                <a:latin typeface="Arial"/>
              </a:defRPr>
            </a:pPr>
            <a:r>
              <a:t>Memory updates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532120"/>
            <a:ext cx="10728655" cy="1311148"/>
          </a:xfrm>
          <a:prstGeom prst="rect">
            <a:avLst/>
          </a:prstGeom>
          <a:solidFill>
            <a:srgbClr val="18221E"/>
          </a:solidFill>
          <a:ln w="12700">
            <a:solidFill>
              <a:srgbClr val="3B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669280"/>
            <a:ext cx="10362895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3B9EFF"/>
                </a:solidFill>
                <a:latin typeface="Arial"/>
              </a:defRPr>
            </a:pPr>
            <a:r>
              <a:t>Routing is inspectable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971032"/>
            <a:ext cx="10362895" cy="5156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Every selected agent has history, price, risk profile, and an explanation.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agents.ts and types.ts.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DEMO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Learning, regression, and recovery.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27048"/>
            <a:ext cx="10728655" cy="464058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5000"/>
              </a:lnSpc>
              <a:defRPr sz="1400" b="0">
                <a:solidFill>
                  <a:srgbClr val="829B91"/>
                </a:solidFill>
                <a:latin typeface="Arial"/>
              </a:defRPr>
            </a:pPr>
            <a:r>
              <a:t>Internal demo values (74 → 91 → 85 → 96). Evaluation changes memory; memory changes routing.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21408"/>
            <a:ext cx="6400800" cy="2926080"/>
          </a:xfrm>
          <a:prstGeom prst="rect">
            <a:avLst/>
          </a:prstGeom>
          <a:solidFill>
            <a:srgbClr val="121A17"/>
          </a:solidFill>
          <a:ln w="12700">
            <a:solidFill>
              <a:srgbClr val="283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8720" y="3099816"/>
            <a:ext cx="1097280" cy="1353312"/>
          </a:xfrm>
          <a:prstGeom prst="rect">
            <a:avLst/>
          </a:prstGeom>
          <a:solidFill>
            <a:srgbClr val="FF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734056"/>
            <a:ext cx="1097280" cy="5725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2000" b="1">
                <a:solidFill>
                  <a:srgbClr val="FF5A64"/>
                </a:solidFill>
                <a:latin typeface="Arial"/>
              </a:defRPr>
            </a:pPr>
            <a: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526280"/>
            <a:ext cx="10972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Run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45736"/>
            <a:ext cx="128016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829B91"/>
                </a:solidFill>
                <a:latin typeface="Arial"/>
              </a:defRPr>
            </a:pPr>
            <a:r>
              <a:t>failure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2788920"/>
            <a:ext cx="1097280" cy="1664208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423160"/>
            <a:ext cx="1097280" cy="5725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2000" b="1">
                <a:solidFill>
                  <a:srgbClr val="00D97A"/>
                </a:solidFill>
                <a:latin typeface="Arial"/>
              </a:defRPr>
            </a:pPr>
            <a:r>
              <a:t>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526280"/>
            <a:ext cx="10972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Run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745736"/>
            <a:ext cx="128016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829B91"/>
                </a:solidFill>
                <a:latin typeface="Arial"/>
              </a:defRPr>
            </a:pPr>
            <a:r>
              <a:t>learned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898648"/>
            <a:ext cx="1097280" cy="1554480"/>
          </a:xfrm>
          <a:prstGeom prst="rect">
            <a:avLst/>
          </a:prstGeom>
          <a:solidFill>
            <a:srgbClr val="FFB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2532888"/>
            <a:ext cx="1097280" cy="5725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2000" b="1">
                <a:solidFill>
                  <a:srgbClr val="FFB020"/>
                </a:solidFill>
                <a:latin typeface="Arial"/>
              </a:defRPr>
            </a:pPr>
            <a:r>
              <a:t>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526280"/>
            <a:ext cx="10972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Run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745736"/>
            <a:ext cx="128016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829B91"/>
                </a:solidFill>
                <a:latin typeface="Arial"/>
              </a:defRPr>
            </a:pPr>
            <a:r>
              <a:t>over-rotate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2697480"/>
            <a:ext cx="1097280" cy="1755648"/>
          </a:xfrm>
          <a:prstGeom prst="rect">
            <a:avLst/>
          </a:prstGeom>
          <a:solidFill>
            <a:srgbClr val="3B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331720"/>
            <a:ext cx="1097280" cy="5725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2000" b="1">
                <a:solidFill>
                  <a:srgbClr val="3B9EFF"/>
                </a:solidFill>
                <a:latin typeface="Arial"/>
              </a:defRPr>
            </a:pPr>
            <a: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4526280"/>
            <a:ext cx="1097280" cy="3947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DCEBE6"/>
                </a:solidFill>
                <a:latin typeface="Arial"/>
              </a:defRPr>
            </a:pPr>
            <a:r>
              <a:t>Run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745736"/>
            <a:ext cx="128016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829B91"/>
                </a:solidFill>
                <a:latin typeface="Arial"/>
              </a:defRPr>
            </a:pPr>
            <a:r>
              <a:t>recovery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304288"/>
            <a:ext cx="3931920" cy="1974646"/>
          </a:xfrm>
          <a:prstGeom prst="rect">
            <a:avLst/>
          </a:prstGeom>
          <a:noFill/>
        </p:spPr>
        <p:txBody>
          <a:bodyPr wrap="square" lIns="101600" rIns="101600" tIns="76200" bIns="76200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Run 2: SourceVerifierAgent promoted after factuality failure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Run 3: Over-optimization — skepticism hurts narrative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Run 4: Swarm rebalances, best internal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internal demo values in orchestrator.ts.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The dashboard makes the market inspectable.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35608"/>
            <a:ext cx="5943600" cy="2598724"/>
          </a:xfrm>
          <a:prstGeom prst="rect">
            <a:avLst/>
          </a:prstGeom>
          <a:noFill/>
        </p:spPr>
        <p:txBody>
          <a:bodyPr wrap="square" lIns="101600" rIns="101600" tIns="76200" bIns="76200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Mission input with live agent bidding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MarketMaker score breakdown per task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Live deliberation: objections and revisions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W&amp;B Weave trace timeline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Six-dimension evaluation scorecards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UCB, Bayesian, and Elo math panels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Leaderboard with BUY / HOLD / SELL signals</a:t>
            </a:r>
          </a:p>
          <a:p>
            <a:pPr>
              <a:lnSpc>
                <a:spcPct val="135000"/>
              </a:lnSpc>
              <a:spcBef>
                <a:spcPts val="600"/>
              </a:spcBef>
              <a:defRPr sz="1300">
                <a:solidFill>
                  <a:srgbClr val="DCEBE6"/>
                </a:solidFill>
                <a:latin typeface="Arial"/>
              </a:defRPr>
            </a:pPr>
            <a:r>
              <a:t>• Agent Studio for custom agent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435608"/>
            <a:ext cx="4160520" cy="2281935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1572768"/>
            <a:ext cx="379476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What users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1874520"/>
            <a:ext cx="3794760" cy="1486407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Why the swarm changed.</a:t>
            </a:r>
            <a:br/>
            <a:r>
              <a:t>Which agent won each task.</a:t>
            </a:r>
            <a:br/>
            <a:r>
              <a:t>How reputation shifted.</a:t>
            </a:r>
            <a:br/>
            <a:r>
              <a:t>Full mission replay.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demo page and dashboard components.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3502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000" b="1">
                <a:solidFill>
                  <a:srgbClr val="00D97A"/>
                </a:solidFill>
                <a:latin typeface="Arial"/>
              </a:defRPr>
            </a:pPr>
            <a:r>
              <a:t>WEDGE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70586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20000"/>
              </a:lnSpc>
              <a:defRPr sz="2600" b="1">
                <a:solidFill>
                  <a:srgbClr val="DCEBE6"/>
                </a:solidFill>
                <a:latin typeface="Arial"/>
              </a:defRPr>
            </a:pPr>
            <a:r>
              <a:t>Trust infrastructure for the agent economy.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35608"/>
            <a:ext cx="3429000" cy="1958339"/>
          </a:xfrm>
          <a:prstGeom prst="rect">
            <a:avLst/>
          </a:prstGeom>
          <a:solidFill>
            <a:srgbClr val="18221E"/>
          </a:solidFill>
          <a:ln w="12700">
            <a:solidFill>
              <a:srgbClr val="FFB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306324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FFB020"/>
                </a:solidFill>
                <a:latin typeface="Arial"/>
              </a:defRPr>
            </a:pPr>
            <a: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3063240" cy="116281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Agent supply is exploding. Buyers lack transparent performance, routing, and failure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6552" y="1435608"/>
            <a:ext cx="3429000" cy="1958339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572768"/>
            <a:ext cx="306324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Why this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1874520"/>
            <a:ext cx="3063240" cy="116281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Every run becomes market evidence: bids, traces, evals, reputation deltas.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1435608"/>
            <a:ext cx="3429000" cy="1958339"/>
          </a:xfrm>
          <a:prstGeom prst="rect">
            <a:avLst/>
          </a:prstGeom>
          <a:solidFill>
            <a:srgbClr val="18221E"/>
          </a:solidFill>
          <a:ln w="12700">
            <a:solidFill>
              <a:srgbClr val="3B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572768"/>
            <a:ext cx="3063240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3B9EFF"/>
                </a:solidFill>
                <a:latin typeface="Arial"/>
              </a:defRPr>
            </a:pPr>
            <a:r>
              <a:t>What expands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1874520"/>
            <a:ext cx="3063240" cy="116281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External benchmarks, agent catalogs, real budgets, audited production traces.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892040"/>
            <a:ext cx="10728655" cy="1311148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362895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30952"/>
            <a:ext cx="10362895" cy="5156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40000"/>
              </a:lnSpc>
              <a:defRPr sz="1300" b="0">
                <a:solidFill>
                  <a:srgbClr val="DCEBE6"/>
                </a:solidFill>
                <a:latin typeface="Arial"/>
              </a:defRPr>
            </a:pPr>
            <a:r>
              <a:t>Not a chatbot. Not a generic framework. The exchange layer that decides which agents are worth hiring.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Source: README and paper.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00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928116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3600" b="1">
                <a:solidFill>
                  <a:srgbClr val="DCEBE6"/>
                </a:solidFill>
                <a:latin typeface="Arial"/>
              </a:defRPr>
            </a:pPr>
            <a:r>
              <a:t>Make agent routing auditable.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7315200" cy="68580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5000"/>
              </a:lnSpc>
              <a:defRPr sz="1800" b="1">
                <a:solidFill>
                  <a:srgbClr val="00D97A"/>
                </a:solidFill>
                <a:latin typeface="Arial"/>
              </a:defRPr>
            </a:pPr>
            <a:r>
              <a:t>Every agent gets a market price, performance history, trace, and reason to improve.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20440"/>
            <a:ext cx="3429000" cy="1188720"/>
          </a:xfrm>
          <a:prstGeom prst="rect">
            <a:avLst/>
          </a:prstGeom>
          <a:solidFill>
            <a:srgbClr val="18221E"/>
          </a:solidFill>
          <a:ln w="12700">
            <a:solidFill>
              <a:srgbClr val="00D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685032"/>
            <a:ext cx="3026664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00D97A"/>
                </a:solidFill>
                <a:latin typeface="Arial"/>
              </a:defRPr>
            </a:pPr>
            <a: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995928"/>
            <a:ext cx="3026664" cy="5029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DCEBE6"/>
                </a:solidFill>
                <a:latin typeface="Arial"/>
              </a:defRPr>
            </a:pPr>
            <a:r>
              <a:t>swarmdaq.vercel.app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6552" y="3520440"/>
            <a:ext cx="3429000" cy="1188720"/>
          </a:xfrm>
          <a:prstGeom prst="rect">
            <a:avLst/>
          </a:prstGeom>
          <a:solidFill>
            <a:srgbClr val="18221E"/>
          </a:solidFill>
          <a:ln w="12700">
            <a:solidFill>
              <a:srgbClr val="3B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3685032"/>
            <a:ext cx="3026664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3B9EFF"/>
                </a:solidFill>
                <a:latin typeface="Arial"/>
              </a:defRPr>
            </a:pPr>
            <a:r>
              <a:t>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995928"/>
            <a:ext cx="3026664" cy="5029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DCEBE6"/>
                </a:solidFill>
                <a:latin typeface="Arial"/>
              </a:defRPr>
            </a:pPr>
            <a:r>
              <a:t>github.com/VolodymyrLinuxovich/swarmdaq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3520440"/>
            <a:ext cx="3429000" cy="1188720"/>
          </a:xfrm>
          <a:prstGeom prst="rect">
            <a:avLst/>
          </a:prstGeom>
          <a:solidFill>
            <a:srgbClr val="18221E"/>
          </a:solidFill>
          <a:ln w="12700">
            <a:solidFill>
              <a:srgbClr val="FFB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685032"/>
            <a:ext cx="3026664" cy="46139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500" b="1">
                <a:solidFill>
                  <a:srgbClr val="FFB020"/>
                </a:solidFill>
                <a:latin typeface="Arial"/>
              </a:defRPr>
            </a:pPr>
            <a:r>
              <a:t>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995928"/>
            <a:ext cx="3026664" cy="5029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DCEBE6"/>
                </a:solidFill>
                <a:latin typeface="Arial"/>
              </a:defRPr>
            </a:pPr>
            <a:r>
              <a:t>paper/main.tex + Actions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0728655" cy="502920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5000"/>
              </a:lnSpc>
              <a:defRPr sz="1300" b="0">
                <a:solidFill>
                  <a:srgbClr val="829B91"/>
                </a:solidFill>
                <a:latin typeface="Arial"/>
              </a:defRPr>
            </a:pPr>
            <a:r>
              <a:t>Next: benchmark suite · agent catalog · budget-aware clearing · adversarial bid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868680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swarmdaq.vercel.app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355080"/>
            <a:ext cx="548640" cy="328041"/>
          </a:xfrm>
          <a:prstGeom prst="rect">
            <a:avLst/>
          </a:prstGeom>
          <a:noFill/>
        </p:spPr>
        <p:txBody>
          <a:bodyPr wrap="square" anchor="t" lIns="101600" rIns="101600" tIns="76200" bIns="76200">
            <a:noAutofit/>
          </a:bodyPr>
          <a:lstStyle/>
          <a:p>
            <a:pPr algn="r">
              <a:lnSpc>
                <a:spcPct val="130000"/>
              </a:lnSpc>
              <a:defRPr sz="900" b="0">
                <a:solidFill>
                  <a:srgbClr val="5A736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